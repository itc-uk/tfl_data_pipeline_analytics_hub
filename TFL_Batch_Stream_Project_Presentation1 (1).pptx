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9" r:id="rId9"/>
    <p:sldId id="264" r:id="rId10"/>
    <p:sldId id="265" r:id="rId11"/>
    <p:sldId id="266" r:id="rId12"/>
    <p:sldId id="267" r:id="rId13"/>
    <p:sldId id="268" r:id="rId14"/>
    <p:sldId id="269" r:id="rId15"/>
    <p:sldId id="280" r:id="rId16"/>
    <p:sldId id="284" r:id="rId17"/>
    <p:sldId id="281" r:id="rId18"/>
    <p:sldId id="272" r:id="rId19"/>
    <p:sldId id="282" r:id="rId20"/>
    <p:sldId id="285" r:id="rId21"/>
    <p:sldId id="286" r:id="rId22"/>
    <p:sldId id="274" r:id="rId23"/>
    <p:sldId id="275" r:id="rId24"/>
    <p:sldId id="276" r:id="rId25"/>
    <p:sldId id="277" r:id="rId26"/>
    <p:sldId id="278" r:id="rId27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163835-79A6-482B-87EC-99053F2F5FC1}" v="29" dt="2025-12-07T18:26:10.271"/>
    <p1510:client id="{952D800C-BCCA-47E3-9C19-2F9D7177F928}" v="69" dt="2025-12-07T20:04:39.5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832" y="2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D134621-C654-EF39-0FFA-B9244C8951B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C806D0-D096-96E8-4015-FBC10CB938D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0E6086-6970-44FB-865B-3A0D4DE61C0A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37A083-C1C1-645A-D5EA-235ABE6A4CB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5CDCAE-012C-707D-9A4C-03A2E3DBC8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97E73B-5F9B-4697-9F10-3F3DE439F0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173640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B47D6E-7609-4E6A-AA4E-41272E284185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2B775F-95B2-4134-A7B5-BCD7616425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107881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3F5A7-083E-4D1F-B332-32BBC7E4FBF2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F09E2-D91F-40E7-939B-2CE0A008CA70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D819E-5DBA-46CB-ABFC-8DF30135A002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04762-15A3-4C93-BEE3-7C821460C7CA}" type="datetime1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6AC5D-E88C-4022-BCA7-9DB6F157FBE1}" type="datetime1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5E677-6EE8-4513-AF6C-DE5A288D9055}" type="datetime1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F022C-18D6-4A51-B534-24B339FFBE2C}" type="datetime1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DF358-7FCF-4E12-895E-F8245B71BBBE}" type="datetime1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0B84D-4EA4-461B-B846-622E4D8A13D8}" type="datetime1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5E242-CC95-45EC-96FD-5F71DD81D8EC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EA22C-260D-4C9C-91FD-3052A32758E0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D0684B-8379-4BAC-8983-AF08C9F80B51}" type="datetime1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17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9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32.png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GB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3746500"/>
            <a:ext cx="14490700" cy="2514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5" name="AutoShape 5"/>
          <p:cNvSpPr/>
          <p:nvPr/>
        </p:nvSpPr>
        <p:spPr>
          <a:xfrm>
            <a:off x="876300" y="3746500"/>
            <a:ext cx="7112000" cy="2514600"/>
          </a:xfrm>
          <a:prstGeom prst="rect">
            <a:avLst/>
          </a:prstGeom>
          <a:solidFill>
            <a:srgbClr val="AAB4DC">
              <a:alpha val="47843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AutoShape 6"/>
          <p:cNvSpPr/>
          <p:nvPr/>
        </p:nvSpPr>
        <p:spPr>
          <a:xfrm>
            <a:off x="1130300" y="40005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5171C2"/>
          </a:solidFill>
        </p:spPr>
        <p:txBody>
          <a:bodyPr/>
          <a:lstStyle/>
          <a:p>
            <a:endParaRPr lang="en-GB"/>
          </a:p>
        </p:txBody>
      </p:sp>
      <p:sp>
        <p:nvSpPr>
          <p:cNvPr id="7" name="AutoShape 7"/>
          <p:cNvSpPr/>
          <p:nvPr/>
        </p:nvSpPr>
        <p:spPr>
          <a:xfrm>
            <a:off x="8242300" y="3746500"/>
            <a:ext cx="7112000" cy="2514600"/>
          </a:xfrm>
          <a:prstGeom prst="rect">
            <a:avLst/>
          </a:prstGeom>
          <a:solidFill>
            <a:srgbClr val="AAB4DC">
              <a:alpha val="47843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AutoShape 8"/>
          <p:cNvSpPr/>
          <p:nvPr/>
        </p:nvSpPr>
        <p:spPr>
          <a:xfrm>
            <a:off x="8496300" y="40005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5171C2"/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TextBox 9"/>
          <p:cNvSpPr txBox="1"/>
          <p:nvPr/>
        </p:nvSpPr>
        <p:spPr>
          <a:xfrm>
            <a:off x="876300" y="21971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3154D4"/>
                </a:solidFill>
                <a:latin typeface="Poppins"/>
              </a:rPr>
              <a:t>                        TFL Data Pipeline Analytics Hub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1130300" y="5003800"/>
            <a:ext cx="45974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3154D4"/>
                </a:solidFill>
                <a:latin typeface="Poppins"/>
              </a:rPr>
              <a:t>Batch Processing Team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8496300" y="5003800"/>
            <a:ext cx="32766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3154D4"/>
                </a:solidFill>
                <a:latin typeface="Poppins"/>
              </a:rPr>
              <a:t>Streaming Team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876300" y="3086100"/>
            <a:ext cx="14490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 dirty="0">
                <a:solidFill>
                  <a:srgbClr val="030303"/>
                </a:solidFill>
                <a:latin typeface="Poppins"/>
              </a:rPr>
              <a:t>                                   Real-Time Data Processing for London Underground Operations Monitoring</a:t>
            </a:r>
            <a:endParaRPr lang="en-US" sz="1100" dirty="0"/>
          </a:p>
        </p:txBody>
      </p:sp>
      <p:sp>
        <p:nvSpPr>
          <p:cNvPr id="13" name="TextBox 13"/>
          <p:cNvSpPr txBox="1"/>
          <p:nvPr/>
        </p:nvSpPr>
        <p:spPr>
          <a:xfrm>
            <a:off x="1130300" y="5638800"/>
            <a:ext cx="45974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Gharzay, Padma Sri, Kavya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8496300" y="5638800"/>
            <a:ext cx="3276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Sylvester, Aamir, Lewis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3"/>
          <a:srcRect t="7000" b="7000"/>
          <a:stretch>
            <a:fillRect/>
          </a:stretch>
        </p:blipFill>
        <p:spPr>
          <a:xfrm>
            <a:off x="1358900" y="4254500"/>
            <a:ext cx="279400" cy="2413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rcRect l="6000" r="6000"/>
          <a:stretch>
            <a:fillRect/>
          </a:stretch>
        </p:blipFill>
        <p:spPr>
          <a:xfrm>
            <a:off x="8763000" y="4254500"/>
            <a:ext cx="215900" cy="241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GB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1765300"/>
            <a:ext cx="14490700" cy="6477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5" name="AutoShape 5"/>
          <p:cNvSpPr/>
          <p:nvPr/>
        </p:nvSpPr>
        <p:spPr>
          <a:xfrm>
            <a:off x="876300" y="1765300"/>
            <a:ext cx="3429000" cy="6477000"/>
          </a:xfrm>
          <a:prstGeom prst="rect">
            <a:avLst/>
          </a:prstGeom>
          <a:solidFill>
            <a:srgbClr val="AAB4DC">
              <a:alpha val="47843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AutoShape 6"/>
          <p:cNvSpPr/>
          <p:nvPr/>
        </p:nvSpPr>
        <p:spPr>
          <a:xfrm>
            <a:off x="1130300" y="20193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5171C2"/>
          </a:solidFill>
        </p:spPr>
        <p:txBody>
          <a:bodyPr/>
          <a:lstStyle/>
          <a:p>
            <a:endParaRPr lang="en-GB"/>
          </a:p>
        </p:txBody>
      </p:sp>
      <p:sp>
        <p:nvSpPr>
          <p:cNvPr id="7" name="AutoShape 7"/>
          <p:cNvSpPr/>
          <p:nvPr/>
        </p:nvSpPr>
        <p:spPr>
          <a:xfrm>
            <a:off x="4559300" y="1765300"/>
            <a:ext cx="3429000" cy="6477000"/>
          </a:xfrm>
          <a:prstGeom prst="rect">
            <a:avLst/>
          </a:prstGeom>
          <a:solidFill>
            <a:srgbClr val="AAB4DC">
              <a:alpha val="47843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AutoShape 8"/>
          <p:cNvSpPr/>
          <p:nvPr/>
        </p:nvSpPr>
        <p:spPr>
          <a:xfrm>
            <a:off x="4813300" y="20193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5171C2"/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AutoShape 9"/>
          <p:cNvSpPr/>
          <p:nvPr/>
        </p:nvSpPr>
        <p:spPr>
          <a:xfrm>
            <a:off x="8242300" y="1765300"/>
            <a:ext cx="3429000" cy="6477000"/>
          </a:xfrm>
          <a:prstGeom prst="rect">
            <a:avLst/>
          </a:prstGeom>
          <a:solidFill>
            <a:srgbClr val="AAB4DC">
              <a:alpha val="47843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AutoShape 10"/>
          <p:cNvSpPr/>
          <p:nvPr/>
        </p:nvSpPr>
        <p:spPr>
          <a:xfrm>
            <a:off x="8496300" y="20193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5171C2"/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AutoShape 11"/>
          <p:cNvSpPr/>
          <p:nvPr/>
        </p:nvSpPr>
        <p:spPr>
          <a:xfrm>
            <a:off x="11938000" y="1765300"/>
            <a:ext cx="3429000" cy="6477000"/>
          </a:xfrm>
          <a:prstGeom prst="rect">
            <a:avLst/>
          </a:prstGeom>
          <a:solidFill>
            <a:srgbClr val="AAB4DC">
              <a:alpha val="47843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AutoShape 12"/>
          <p:cNvSpPr/>
          <p:nvPr/>
        </p:nvSpPr>
        <p:spPr>
          <a:xfrm>
            <a:off x="12179300" y="20193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5171C2"/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TextBox 13"/>
          <p:cNvSpPr txBox="1"/>
          <p:nvPr/>
        </p:nvSpPr>
        <p:spPr>
          <a:xfrm>
            <a:off x="876300" y="8763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3154D4"/>
                </a:solidFill>
                <a:latin typeface="Poppins"/>
              </a:rPr>
              <a:t>Purpose of the Project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1130300" y="3022600"/>
            <a:ext cx="29210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600" b="1" dirty="0">
                <a:solidFill>
                  <a:srgbClr val="3154D4"/>
                </a:solidFill>
                <a:latin typeface="Poppins"/>
              </a:rPr>
              <a:t>Build a Batch Data Pipeline</a:t>
            </a:r>
            <a:endParaRPr lang="en-US" sz="2600" dirty="0"/>
          </a:p>
        </p:txBody>
      </p:sp>
      <p:sp>
        <p:nvSpPr>
          <p:cNvPr id="15" name="TextBox 15"/>
          <p:cNvSpPr txBox="1"/>
          <p:nvPr/>
        </p:nvSpPr>
        <p:spPr>
          <a:xfrm>
            <a:off x="4813300" y="3022600"/>
            <a:ext cx="29210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 dirty="0">
                <a:solidFill>
                  <a:srgbClr val="3154D4"/>
                </a:solidFill>
                <a:latin typeface="Poppins"/>
              </a:rPr>
              <a:t>Standardise &amp; Clean</a:t>
            </a:r>
            <a:endParaRPr lang="en-US" sz="1100" dirty="0"/>
          </a:p>
        </p:txBody>
      </p:sp>
      <p:sp>
        <p:nvSpPr>
          <p:cNvPr id="16" name="TextBox 16"/>
          <p:cNvSpPr txBox="1"/>
          <p:nvPr/>
        </p:nvSpPr>
        <p:spPr>
          <a:xfrm>
            <a:off x="8496300" y="3022600"/>
            <a:ext cx="2921000" cy="1358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3154D4"/>
                </a:solidFill>
                <a:latin typeface="Poppins"/>
              </a:rPr>
              <a:t>Enable Reporting &amp; Analysis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2179300" y="3022600"/>
            <a:ext cx="2921000" cy="1358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3154D4"/>
                </a:solidFill>
                <a:latin typeface="Poppins"/>
              </a:rPr>
              <a:t>Create Reusable Framework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1384300" y="4127500"/>
            <a:ext cx="26670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Ingest Transport for London (TFL) line data from APIs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1384300" y="5461000"/>
            <a:ext cx="26670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Into a central data platform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1384300" y="6413500"/>
            <a:ext cx="26670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For unified data management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5067300" y="4127500"/>
            <a:ext cx="26670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Across raw, staging, and curated layers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5067300" y="5080000"/>
            <a:ext cx="26670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Ensure reliability and analytics-readiness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5067300" y="6032500"/>
            <a:ext cx="26670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Schema-based data preparation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8750300" y="4572000"/>
            <a:ext cx="26670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Line performance: delays, disruptions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8750300" y="5537200"/>
            <a:ext cx="26670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Trends by time of day, route, and station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8750300" y="6870700"/>
            <a:ext cx="26670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Actionable business insights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12433300" y="4572000"/>
            <a:ext cx="26670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Extensible for other TFL datasets</a:t>
            </a:r>
            <a:endParaRPr lang="en-US" sz="1100"/>
          </a:p>
        </p:txBody>
      </p:sp>
      <p:sp>
        <p:nvSpPr>
          <p:cNvPr id="28" name="TextBox 28"/>
          <p:cNvSpPr txBox="1"/>
          <p:nvPr/>
        </p:nvSpPr>
        <p:spPr>
          <a:xfrm>
            <a:off x="12433300" y="5537200"/>
            <a:ext cx="26670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Foundation for real-time/streaming use cases</a:t>
            </a:r>
            <a:endParaRPr lang="en-US" sz="1100"/>
          </a:p>
        </p:txBody>
      </p:sp>
      <p:sp>
        <p:nvSpPr>
          <p:cNvPr id="29" name="TextBox 29"/>
          <p:cNvSpPr txBox="1"/>
          <p:nvPr/>
        </p:nvSpPr>
        <p:spPr>
          <a:xfrm>
            <a:off x="12433300" y="6870700"/>
            <a:ext cx="26670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Scalable architecture for future growth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1003300" y="41910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1" name="TextBox 31"/>
          <p:cNvSpPr txBox="1"/>
          <p:nvPr/>
        </p:nvSpPr>
        <p:spPr>
          <a:xfrm>
            <a:off x="1003300" y="55245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2" name="TextBox 32"/>
          <p:cNvSpPr txBox="1"/>
          <p:nvPr/>
        </p:nvSpPr>
        <p:spPr>
          <a:xfrm>
            <a:off x="1003300" y="64770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3" name="TextBox 33"/>
          <p:cNvSpPr txBox="1"/>
          <p:nvPr/>
        </p:nvSpPr>
        <p:spPr>
          <a:xfrm>
            <a:off x="4686300" y="41910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4" name="TextBox 34"/>
          <p:cNvSpPr txBox="1"/>
          <p:nvPr/>
        </p:nvSpPr>
        <p:spPr>
          <a:xfrm>
            <a:off x="4686300" y="51435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5" name="TextBox 35"/>
          <p:cNvSpPr txBox="1"/>
          <p:nvPr/>
        </p:nvSpPr>
        <p:spPr>
          <a:xfrm>
            <a:off x="4686300" y="60960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6" name="TextBox 36"/>
          <p:cNvSpPr txBox="1"/>
          <p:nvPr/>
        </p:nvSpPr>
        <p:spPr>
          <a:xfrm>
            <a:off x="8369300" y="46355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7" name="TextBox 37"/>
          <p:cNvSpPr txBox="1"/>
          <p:nvPr/>
        </p:nvSpPr>
        <p:spPr>
          <a:xfrm>
            <a:off x="8369300" y="56007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8" name="TextBox 38"/>
          <p:cNvSpPr txBox="1"/>
          <p:nvPr/>
        </p:nvSpPr>
        <p:spPr>
          <a:xfrm>
            <a:off x="8369300" y="69342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9" name="TextBox 39"/>
          <p:cNvSpPr txBox="1"/>
          <p:nvPr/>
        </p:nvSpPr>
        <p:spPr>
          <a:xfrm>
            <a:off x="12065000" y="46355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0" name="TextBox 40"/>
          <p:cNvSpPr txBox="1"/>
          <p:nvPr/>
        </p:nvSpPr>
        <p:spPr>
          <a:xfrm>
            <a:off x="12065000" y="56007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1" name="TextBox 41"/>
          <p:cNvSpPr txBox="1"/>
          <p:nvPr/>
        </p:nvSpPr>
        <p:spPr>
          <a:xfrm>
            <a:off x="12065000" y="69342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3"/>
          <a:srcRect l="6000" r="6000"/>
          <a:stretch>
            <a:fillRect/>
          </a:stretch>
        </p:blipFill>
        <p:spPr>
          <a:xfrm>
            <a:off x="1397000" y="2273300"/>
            <a:ext cx="215900" cy="2413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067300" y="2273300"/>
            <a:ext cx="241300" cy="2413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750300" y="2273300"/>
            <a:ext cx="241300" cy="241300"/>
          </a:xfrm>
          <a:prstGeom prst="rect">
            <a:avLst/>
          </a:prstGeom>
        </p:spPr>
      </p:pic>
      <p:pic>
        <p:nvPicPr>
          <p:cNvPr id="45" name="Picture 45"/>
          <p:cNvPicPr>
            <a:picLocks noChangeAspect="1"/>
          </p:cNvPicPr>
          <p:nvPr/>
        </p:nvPicPr>
        <p:blipFill>
          <a:blip r:embed="rId6"/>
          <a:srcRect l="6000" r="6000"/>
          <a:stretch>
            <a:fillRect/>
          </a:stretch>
        </p:blipFill>
        <p:spPr>
          <a:xfrm>
            <a:off x="12458700" y="2273300"/>
            <a:ext cx="215900" cy="241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GB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1422400"/>
            <a:ext cx="14490700" cy="7073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5" name="AutoShape 5"/>
          <p:cNvSpPr/>
          <p:nvPr/>
        </p:nvSpPr>
        <p:spPr>
          <a:xfrm>
            <a:off x="876300" y="1422400"/>
            <a:ext cx="14490700" cy="163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AutoShape 6"/>
          <p:cNvSpPr/>
          <p:nvPr/>
        </p:nvSpPr>
        <p:spPr>
          <a:xfrm>
            <a:off x="876300" y="1422400"/>
            <a:ext cx="14490700" cy="1638300"/>
          </a:xfrm>
          <a:prstGeom prst="roundRect">
            <a:avLst>
              <a:gd name="adj" fmla="val 4651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7" name="AutoShape 7"/>
          <p:cNvSpPr/>
          <p:nvPr/>
        </p:nvSpPr>
        <p:spPr>
          <a:xfrm>
            <a:off x="876300" y="1422400"/>
            <a:ext cx="241300" cy="1638300"/>
          </a:xfrm>
          <a:prstGeom prst="rect">
            <a:avLst/>
          </a:prstGeom>
          <a:solidFill>
            <a:srgbClr val="AAB4DC"/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AutoShape 8"/>
          <p:cNvSpPr/>
          <p:nvPr/>
        </p:nvSpPr>
        <p:spPr>
          <a:xfrm>
            <a:off x="1257300" y="3238500"/>
            <a:ext cx="14109700" cy="163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AutoShape 9"/>
          <p:cNvSpPr/>
          <p:nvPr/>
        </p:nvSpPr>
        <p:spPr>
          <a:xfrm>
            <a:off x="1257300" y="3238500"/>
            <a:ext cx="14109700" cy="1638300"/>
          </a:xfrm>
          <a:prstGeom prst="roundRect">
            <a:avLst>
              <a:gd name="adj" fmla="val 4651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AutoShape 10"/>
          <p:cNvSpPr/>
          <p:nvPr/>
        </p:nvSpPr>
        <p:spPr>
          <a:xfrm>
            <a:off x="1257300" y="3238500"/>
            <a:ext cx="241300" cy="1638300"/>
          </a:xfrm>
          <a:prstGeom prst="rect">
            <a:avLst/>
          </a:prstGeom>
          <a:solidFill>
            <a:srgbClr val="AAB4DC"/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AutoShape 11"/>
          <p:cNvSpPr/>
          <p:nvPr/>
        </p:nvSpPr>
        <p:spPr>
          <a:xfrm>
            <a:off x="1625600" y="5054600"/>
            <a:ext cx="13728700" cy="163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AutoShape 12"/>
          <p:cNvSpPr/>
          <p:nvPr/>
        </p:nvSpPr>
        <p:spPr>
          <a:xfrm>
            <a:off x="1625600" y="5054600"/>
            <a:ext cx="13728700" cy="1638300"/>
          </a:xfrm>
          <a:prstGeom prst="roundRect">
            <a:avLst>
              <a:gd name="adj" fmla="val 4651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AutoShape 13"/>
          <p:cNvSpPr/>
          <p:nvPr/>
        </p:nvSpPr>
        <p:spPr>
          <a:xfrm>
            <a:off x="1625600" y="5054600"/>
            <a:ext cx="241300" cy="1638300"/>
          </a:xfrm>
          <a:prstGeom prst="rect">
            <a:avLst/>
          </a:prstGeom>
          <a:solidFill>
            <a:srgbClr val="AAB4DC"/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AutoShape 14"/>
          <p:cNvSpPr/>
          <p:nvPr/>
        </p:nvSpPr>
        <p:spPr>
          <a:xfrm>
            <a:off x="2006600" y="6870700"/>
            <a:ext cx="13347700" cy="163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AutoShape 15"/>
          <p:cNvSpPr/>
          <p:nvPr/>
        </p:nvSpPr>
        <p:spPr>
          <a:xfrm>
            <a:off x="2006600" y="6870700"/>
            <a:ext cx="13347700" cy="1638300"/>
          </a:xfrm>
          <a:prstGeom prst="roundRect">
            <a:avLst>
              <a:gd name="adj" fmla="val 4651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AutoShape 16"/>
          <p:cNvSpPr/>
          <p:nvPr/>
        </p:nvSpPr>
        <p:spPr>
          <a:xfrm>
            <a:off x="2006600" y="6870700"/>
            <a:ext cx="241300" cy="1638300"/>
          </a:xfrm>
          <a:prstGeom prst="rect">
            <a:avLst/>
          </a:prstGeom>
          <a:solidFill>
            <a:srgbClr val="AAB4DC"/>
          </a:solidFill>
        </p:spPr>
        <p:txBody>
          <a:bodyPr/>
          <a:lstStyle/>
          <a:p>
            <a:endParaRPr lang="en-GB"/>
          </a:p>
        </p:txBody>
      </p:sp>
      <p:sp>
        <p:nvSpPr>
          <p:cNvPr id="17" name="TextBox 17"/>
          <p:cNvSpPr txBox="1"/>
          <p:nvPr/>
        </p:nvSpPr>
        <p:spPr>
          <a:xfrm>
            <a:off x="876300" y="622300"/>
            <a:ext cx="14490700" cy="546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500" b="1">
                <a:solidFill>
                  <a:srgbClr val="3154D4"/>
                </a:solidFill>
                <a:latin typeface="Poppins"/>
              </a:rPr>
              <a:t>Problem Statement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1384300" y="1651000"/>
            <a:ext cx="13982700" cy="330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200" b="1">
                <a:solidFill>
                  <a:srgbClr val="3154D4"/>
                </a:solidFill>
                <a:latin typeface="Poppins"/>
              </a:rPr>
              <a:t>Unstructured &amp; Inconsistent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1752600" y="3467100"/>
            <a:ext cx="13601700" cy="330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200" b="1">
                <a:solidFill>
                  <a:srgbClr val="3154D4"/>
                </a:solidFill>
                <a:latin typeface="Poppins"/>
              </a:rPr>
              <a:t>Difficult to Analyse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2133600" y="5283200"/>
            <a:ext cx="13220700" cy="330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200" b="1">
                <a:solidFill>
                  <a:srgbClr val="3154D4"/>
                </a:solidFill>
                <a:latin typeface="Poppins"/>
              </a:rPr>
              <a:t>Not Stored Historically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2514600" y="7099300"/>
            <a:ext cx="12852400" cy="330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200" b="1">
                <a:solidFill>
                  <a:srgbClr val="3154D4"/>
                </a:solidFill>
                <a:latin typeface="Poppins"/>
              </a:rPr>
              <a:t>Not Optimised for Reporting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1384300" y="2159000"/>
            <a:ext cx="13982700" cy="673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00" b="1">
                <a:solidFill>
                  <a:srgbClr val="030303"/>
                </a:solidFill>
                <a:latin typeface="Poppins"/>
              </a:rPr>
              <a:t>Raw API output varies across different endpoints with inconsistent formats, data types, and field definitions, making it difficult to integrate and process at scale.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1752600" y="3975100"/>
            <a:ext cx="13601700" cy="673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00" b="1">
                <a:solidFill>
                  <a:srgbClr val="030303"/>
                </a:solidFill>
                <a:latin typeface="Poppins"/>
              </a:rPr>
              <a:t>Mixed timestamp formats, missing values, and varying data structures prevent direct analytics. No unified schema for reliable reporting across tube lines.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2133600" y="5778500"/>
            <a:ext cx="13220700" cy="673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00" b="1">
                <a:solidFill>
                  <a:srgbClr val="030303"/>
                </a:solidFill>
                <a:latin typeface="Poppins"/>
              </a:rPr>
              <a:t>Real-time data is not persisted, making it impossible to track trends, identify patterns, or analyze long-term performance issues across days and weeks.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2514600" y="7594600"/>
            <a:ext cx="12852400" cy="673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00" b="1">
                <a:solidFill>
                  <a:srgbClr val="030303"/>
                </a:solidFill>
                <a:latin typeface="Poppins"/>
              </a:rPr>
              <a:t>Lacks unified data model for business analytics. Cannot easily answer questions about delays by line, route, station, or time-of-day for operational insights.</a:t>
            </a:r>
            <a:endParaRPr lang="en-US" sz="11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5832636-8EE3-7D46-7349-DA47483A6AF6}"/>
              </a:ext>
            </a:extLst>
          </p:cNvPr>
          <p:cNvSpPr txBox="1"/>
          <p:nvPr/>
        </p:nvSpPr>
        <p:spPr>
          <a:xfrm>
            <a:off x="3993573" y="3985552"/>
            <a:ext cx="82642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GB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1181100"/>
            <a:ext cx="14490700" cy="4965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5" name="AutoShape 5"/>
          <p:cNvSpPr/>
          <p:nvPr/>
        </p:nvSpPr>
        <p:spPr>
          <a:xfrm>
            <a:off x="876300" y="1181100"/>
            <a:ext cx="4660900" cy="4965700"/>
          </a:xfrm>
          <a:prstGeom prst="rect">
            <a:avLst/>
          </a:prstGeom>
          <a:solidFill>
            <a:srgbClr val="AAB4DC">
              <a:alpha val="47843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AutoShape 6"/>
          <p:cNvSpPr/>
          <p:nvPr/>
        </p:nvSpPr>
        <p:spPr>
          <a:xfrm>
            <a:off x="1219200" y="1371600"/>
            <a:ext cx="558800" cy="558800"/>
          </a:xfrm>
          <a:prstGeom prst="roundRect">
            <a:avLst>
              <a:gd name="adj" fmla="val 50000"/>
            </a:avLst>
          </a:prstGeom>
          <a:solidFill>
            <a:srgbClr val="5171C2"/>
          </a:solidFill>
        </p:spPr>
        <p:txBody>
          <a:bodyPr/>
          <a:lstStyle/>
          <a:p>
            <a:endParaRPr lang="en-GB"/>
          </a:p>
        </p:txBody>
      </p:sp>
      <p:sp>
        <p:nvSpPr>
          <p:cNvPr id="7" name="AutoShape 7"/>
          <p:cNvSpPr/>
          <p:nvPr/>
        </p:nvSpPr>
        <p:spPr>
          <a:xfrm>
            <a:off x="5791200" y="1181100"/>
            <a:ext cx="4660900" cy="4965700"/>
          </a:xfrm>
          <a:prstGeom prst="rect">
            <a:avLst/>
          </a:prstGeom>
          <a:solidFill>
            <a:srgbClr val="AAB4DC">
              <a:alpha val="47843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AutoShape 8"/>
          <p:cNvSpPr/>
          <p:nvPr/>
        </p:nvSpPr>
        <p:spPr>
          <a:xfrm>
            <a:off x="6134100" y="1371600"/>
            <a:ext cx="558800" cy="558800"/>
          </a:xfrm>
          <a:prstGeom prst="roundRect">
            <a:avLst>
              <a:gd name="adj" fmla="val 50000"/>
            </a:avLst>
          </a:prstGeom>
          <a:solidFill>
            <a:srgbClr val="5171C2"/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AutoShape 9"/>
          <p:cNvSpPr/>
          <p:nvPr/>
        </p:nvSpPr>
        <p:spPr>
          <a:xfrm>
            <a:off x="10706100" y="1181100"/>
            <a:ext cx="4660900" cy="4965700"/>
          </a:xfrm>
          <a:prstGeom prst="rect">
            <a:avLst/>
          </a:prstGeom>
          <a:solidFill>
            <a:srgbClr val="AAB4DC">
              <a:alpha val="47843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AutoShape 10"/>
          <p:cNvSpPr/>
          <p:nvPr/>
        </p:nvSpPr>
        <p:spPr>
          <a:xfrm>
            <a:off x="11049000" y="1371600"/>
            <a:ext cx="558800" cy="558800"/>
          </a:xfrm>
          <a:prstGeom prst="roundRect">
            <a:avLst>
              <a:gd name="adj" fmla="val 50000"/>
            </a:avLst>
          </a:prstGeom>
          <a:solidFill>
            <a:srgbClr val="5171C2"/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AutoShape 11"/>
          <p:cNvSpPr/>
          <p:nvPr/>
        </p:nvSpPr>
        <p:spPr>
          <a:xfrm>
            <a:off x="876300" y="6273800"/>
            <a:ext cx="14490700" cy="2336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AutoShape 12"/>
          <p:cNvSpPr/>
          <p:nvPr/>
        </p:nvSpPr>
        <p:spPr>
          <a:xfrm>
            <a:off x="876300" y="6273800"/>
            <a:ext cx="14490700" cy="2336800"/>
          </a:xfrm>
          <a:prstGeom prst="rect">
            <a:avLst/>
          </a:prstGeom>
          <a:solidFill>
            <a:srgbClr val="AAB4DC">
              <a:alpha val="47843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AutoShape 13"/>
          <p:cNvSpPr/>
          <p:nvPr/>
        </p:nvSpPr>
        <p:spPr>
          <a:xfrm>
            <a:off x="1219200" y="6464300"/>
            <a:ext cx="558800" cy="558800"/>
          </a:xfrm>
          <a:prstGeom prst="roundRect">
            <a:avLst>
              <a:gd name="adj" fmla="val 50000"/>
            </a:avLst>
          </a:prstGeom>
          <a:solidFill>
            <a:srgbClr val="5171C2"/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TextBox 14"/>
          <p:cNvSpPr txBox="1"/>
          <p:nvPr/>
        </p:nvSpPr>
        <p:spPr>
          <a:xfrm>
            <a:off x="876300" y="508000"/>
            <a:ext cx="14490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3154D4"/>
                </a:solidFill>
                <a:latin typeface="Poppins"/>
              </a:rPr>
              <a:t>Key Technology Choices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1130300" y="2133600"/>
            <a:ext cx="4152900" cy="673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200" b="1">
                <a:solidFill>
                  <a:srgbClr val="3154D4"/>
                </a:solidFill>
                <a:latin typeface="Poppins"/>
              </a:rPr>
              <a:t>Data Processing &amp; Transformation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6045200" y="2133600"/>
            <a:ext cx="4152900" cy="673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200" b="1">
                <a:solidFill>
                  <a:srgbClr val="3154D4"/>
                </a:solidFill>
                <a:latin typeface="Poppins"/>
              </a:rPr>
              <a:t>Streaming &amp; Real-Time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0960100" y="2133600"/>
            <a:ext cx="4152900" cy="673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200" b="1">
                <a:solidFill>
                  <a:srgbClr val="3154D4"/>
                </a:solidFill>
                <a:latin typeface="Poppins"/>
              </a:rPr>
              <a:t>Data Storage &amp; Warehousing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1130300" y="7226300"/>
            <a:ext cx="8813800" cy="330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200" b="1">
                <a:solidFill>
                  <a:srgbClr val="3154D4"/>
                </a:solidFill>
                <a:latin typeface="Poppins"/>
              </a:rPr>
              <a:t>Development &amp; DevOps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1384300" y="2819400"/>
            <a:ext cx="3898900" cy="558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 dirty="0">
                <a:solidFill>
                  <a:srgbClr val="030303"/>
                </a:solidFill>
                <a:latin typeface="Poppins"/>
              </a:rPr>
              <a:t>Python: Data ingestion, data analysis.</a:t>
            </a:r>
            <a:endParaRPr lang="en-US" sz="1100" dirty="0"/>
          </a:p>
        </p:txBody>
      </p:sp>
      <p:sp>
        <p:nvSpPr>
          <p:cNvPr id="20" name="TextBox 20"/>
          <p:cNvSpPr txBox="1"/>
          <p:nvPr/>
        </p:nvSpPr>
        <p:spPr>
          <a:xfrm>
            <a:off x="1384300" y="3505200"/>
            <a:ext cx="3898900" cy="558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 dirty="0" err="1">
                <a:solidFill>
                  <a:srgbClr val="030303"/>
                </a:solidFill>
                <a:latin typeface="Poppins"/>
              </a:rPr>
              <a:t>PySpark</a:t>
            </a:r>
            <a:r>
              <a:rPr lang="en-US" sz="1400" b="1" dirty="0">
                <a:solidFill>
                  <a:srgbClr val="030303"/>
                </a:solidFill>
                <a:latin typeface="Poppins"/>
              </a:rPr>
              <a:t>:  Full load and transformations</a:t>
            </a:r>
            <a:endParaRPr lang="en-US" sz="1100" dirty="0"/>
          </a:p>
        </p:txBody>
      </p:sp>
      <p:sp>
        <p:nvSpPr>
          <p:cNvPr id="21" name="TextBox 21"/>
          <p:cNvSpPr txBox="1"/>
          <p:nvPr/>
        </p:nvSpPr>
        <p:spPr>
          <a:xfrm>
            <a:off x="1384300" y="4267200"/>
            <a:ext cx="3898900" cy="558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 dirty="0">
                <a:solidFill>
                  <a:srgbClr val="030303"/>
                </a:solidFill>
                <a:latin typeface="Poppins"/>
              </a:rPr>
              <a:t>Shell script &amp; Scoop: Incremental loads</a:t>
            </a:r>
            <a:endParaRPr lang="en-US" sz="1100" dirty="0"/>
          </a:p>
        </p:txBody>
      </p:sp>
      <p:sp>
        <p:nvSpPr>
          <p:cNvPr id="22" name="TextBox 22"/>
          <p:cNvSpPr txBox="1"/>
          <p:nvPr/>
        </p:nvSpPr>
        <p:spPr>
          <a:xfrm>
            <a:off x="1384300" y="4953000"/>
            <a:ext cx="3898900" cy="850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 dirty="0">
                <a:solidFill>
                  <a:srgbClr val="030303"/>
                </a:solidFill>
                <a:latin typeface="Poppins"/>
              </a:rPr>
              <a:t>HQL: Hive external tables for data exploration and schema management</a:t>
            </a:r>
            <a:endParaRPr lang="en-US" sz="1100" dirty="0"/>
          </a:p>
        </p:txBody>
      </p:sp>
      <p:sp>
        <p:nvSpPr>
          <p:cNvPr id="23" name="TextBox 23"/>
          <p:cNvSpPr txBox="1"/>
          <p:nvPr/>
        </p:nvSpPr>
        <p:spPr>
          <a:xfrm>
            <a:off x="6299200" y="2946400"/>
            <a:ext cx="3898900" cy="850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30303"/>
                </a:solidFill>
                <a:latin typeface="Poppins"/>
              </a:rPr>
              <a:t>Kafka: Real-time data streaming and event processing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6299200" y="3949700"/>
            <a:ext cx="3898900" cy="850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30303"/>
                </a:solidFill>
                <a:latin typeface="Poppins"/>
              </a:rPr>
              <a:t>PySpark: Reading Kafka streamed data, storing in HDFS cluster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11214100" y="2946400"/>
            <a:ext cx="3898900" cy="558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30303"/>
                </a:solidFill>
                <a:latin typeface="Poppins"/>
              </a:rPr>
              <a:t>HDFS: Hadoop Distributed File System for data persistence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11214100" y="3670300"/>
            <a:ext cx="3898900" cy="558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30303"/>
                </a:solidFill>
                <a:latin typeface="Poppins"/>
              </a:rPr>
              <a:t>Hive: Data warehousing and querying large datasets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11214100" y="4394200"/>
            <a:ext cx="38989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30303"/>
                </a:solidFill>
                <a:latin typeface="Poppins"/>
              </a:rPr>
              <a:t>PostgreSQL: Relational Database Management System for ingestion landing zone</a:t>
            </a:r>
            <a:endParaRPr lang="en-US" sz="1100"/>
          </a:p>
        </p:txBody>
      </p:sp>
      <p:sp>
        <p:nvSpPr>
          <p:cNvPr id="28" name="TextBox 28"/>
          <p:cNvSpPr txBox="1"/>
          <p:nvPr/>
        </p:nvSpPr>
        <p:spPr>
          <a:xfrm>
            <a:off x="1384300" y="7708900"/>
            <a:ext cx="8559800" cy="279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30303"/>
                </a:solidFill>
                <a:latin typeface="Poppins"/>
              </a:rPr>
              <a:t>Git: Version control system for codebase and collaboration</a:t>
            </a:r>
            <a:endParaRPr lang="en-US" sz="1100"/>
          </a:p>
        </p:txBody>
      </p:sp>
      <p:sp>
        <p:nvSpPr>
          <p:cNvPr id="29" name="TextBox 29"/>
          <p:cNvSpPr txBox="1"/>
          <p:nvPr/>
        </p:nvSpPr>
        <p:spPr>
          <a:xfrm>
            <a:off x="1384300" y="8140700"/>
            <a:ext cx="8559800" cy="279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30303"/>
                </a:solidFill>
                <a:latin typeface="Poppins"/>
              </a:rPr>
              <a:t>Jenkins: CI/CD platform for continuous integration and deployment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1003300" y="2997200"/>
            <a:ext cx="241300" cy="177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4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1" name="TextBox 31"/>
          <p:cNvSpPr txBox="1"/>
          <p:nvPr/>
        </p:nvSpPr>
        <p:spPr>
          <a:xfrm>
            <a:off x="1003300" y="3721100"/>
            <a:ext cx="241300" cy="177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4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2" name="TextBox 32"/>
          <p:cNvSpPr txBox="1"/>
          <p:nvPr/>
        </p:nvSpPr>
        <p:spPr>
          <a:xfrm>
            <a:off x="1003300" y="4432300"/>
            <a:ext cx="241300" cy="177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4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3" name="TextBox 33"/>
          <p:cNvSpPr txBox="1"/>
          <p:nvPr/>
        </p:nvSpPr>
        <p:spPr>
          <a:xfrm>
            <a:off x="1003300" y="5156200"/>
            <a:ext cx="241300" cy="177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4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4" name="TextBox 34"/>
          <p:cNvSpPr txBox="1"/>
          <p:nvPr/>
        </p:nvSpPr>
        <p:spPr>
          <a:xfrm>
            <a:off x="5918200" y="3124200"/>
            <a:ext cx="241300" cy="177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400" b="0" dirty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 dirty="0"/>
          </a:p>
        </p:txBody>
      </p:sp>
      <p:sp>
        <p:nvSpPr>
          <p:cNvPr id="35" name="TextBox 35"/>
          <p:cNvSpPr txBox="1"/>
          <p:nvPr/>
        </p:nvSpPr>
        <p:spPr>
          <a:xfrm>
            <a:off x="5918200" y="4165600"/>
            <a:ext cx="241300" cy="177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4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6" name="TextBox 36"/>
          <p:cNvSpPr txBox="1"/>
          <p:nvPr/>
        </p:nvSpPr>
        <p:spPr>
          <a:xfrm>
            <a:off x="10833100" y="2997200"/>
            <a:ext cx="241300" cy="177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4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7" name="TextBox 37"/>
          <p:cNvSpPr txBox="1"/>
          <p:nvPr/>
        </p:nvSpPr>
        <p:spPr>
          <a:xfrm>
            <a:off x="10833100" y="3721100"/>
            <a:ext cx="241300" cy="177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4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8" name="TextBox 38"/>
          <p:cNvSpPr txBox="1"/>
          <p:nvPr/>
        </p:nvSpPr>
        <p:spPr>
          <a:xfrm>
            <a:off x="10833100" y="4432300"/>
            <a:ext cx="241300" cy="177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4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9" name="TextBox 39"/>
          <p:cNvSpPr txBox="1"/>
          <p:nvPr/>
        </p:nvSpPr>
        <p:spPr>
          <a:xfrm>
            <a:off x="1003300" y="7759700"/>
            <a:ext cx="241300" cy="177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4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0" name="TextBox 40"/>
          <p:cNvSpPr txBox="1"/>
          <p:nvPr/>
        </p:nvSpPr>
        <p:spPr>
          <a:xfrm>
            <a:off x="1003300" y="8191500"/>
            <a:ext cx="241300" cy="177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4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3"/>
          <a:srcRect t="21000" b="21000"/>
          <a:stretch>
            <a:fillRect/>
          </a:stretch>
        </p:blipFill>
        <p:spPr>
          <a:xfrm>
            <a:off x="1346200" y="1562100"/>
            <a:ext cx="304800" cy="1778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4"/>
          <a:srcRect t="9000" b="9000"/>
          <a:stretch>
            <a:fillRect/>
          </a:stretch>
        </p:blipFill>
        <p:spPr>
          <a:xfrm>
            <a:off x="6311900" y="1562100"/>
            <a:ext cx="215900" cy="1778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5"/>
          <a:srcRect t="9000" b="9000"/>
          <a:stretch>
            <a:fillRect/>
          </a:stretch>
        </p:blipFill>
        <p:spPr>
          <a:xfrm>
            <a:off x="11226800" y="1562100"/>
            <a:ext cx="215900" cy="1778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6"/>
          <a:srcRect t="21000" b="21000"/>
          <a:stretch>
            <a:fillRect/>
          </a:stretch>
        </p:blipFill>
        <p:spPr>
          <a:xfrm>
            <a:off x="1346200" y="6654800"/>
            <a:ext cx="304800" cy="17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GB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1993900"/>
            <a:ext cx="14490700" cy="6032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5" name="AutoShape 5"/>
          <p:cNvSpPr/>
          <p:nvPr/>
        </p:nvSpPr>
        <p:spPr>
          <a:xfrm>
            <a:off x="876300" y="1993900"/>
            <a:ext cx="4660900" cy="6032500"/>
          </a:xfrm>
          <a:prstGeom prst="rect">
            <a:avLst/>
          </a:prstGeom>
          <a:solidFill>
            <a:srgbClr val="AAB4DC">
              <a:alpha val="47843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AutoShape 6"/>
          <p:cNvSpPr/>
          <p:nvPr/>
        </p:nvSpPr>
        <p:spPr>
          <a:xfrm>
            <a:off x="1130300" y="22479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5171C2"/>
          </a:solidFill>
        </p:spPr>
        <p:txBody>
          <a:bodyPr/>
          <a:lstStyle/>
          <a:p>
            <a:endParaRPr lang="en-GB"/>
          </a:p>
        </p:txBody>
      </p:sp>
      <p:sp>
        <p:nvSpPr>
          <p:cNvPr id="7" name="AutoShape 7"/>
          <p:cNvSpPr/>
          <p:nvPr/>
        </p:nvSpPr>
        <p:spPr>
          <a:xfrm>
            <a:off x="5791200" y="1993900"/>
            <a:ext cx="4660900" cy="6032500"/>
          </a:xfrm>
          <a:prstGeom prst="rect">
            <a:avLst/>
          </a:prstGeom>
          <a:solidFill>
            <a:srgbClr val="AAB4DC">
              <a:alpha val="47843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AutoShape 8"/>
          <p:cNvSpPr/>
          <p:nvPr/>
        </p:nvSpPr>
        <p:spPr>
          <a:xfrm>
            <a:off x="6045200" y="22479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5171C2"/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AutoShape 9"/>
          <p:cNvSpPr/>
          <p:nvPr/>
        </p:nvSpPr>
        <p:spPr>
          <a:xfrm>
            <a:off x="10706100" y="1993900"/>
            <a:ext cx="4660900" cy="6032500"/>
          </a:xfrm>
          <a:prstGeom prst="rect">
            <a:avLst/>
          </a:prstGeom>
          <a:solidFill>
            <a:srgbClr val="AAB4DC">
              <a:alpha val="47843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AutoShape 10"/>
          <p:cNvSpPr/>
          <p:nvPr/>
        </p:nvSpPr>
        <p:spPr>
          <a:xfrm>
            <a:off x="10960100" y="22479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5171C2"/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TextBox 11"/>
          <p:cNvSpPr txBox="1"/>
          <p:nvPr/>
        </p:nvSpPr>
        <p:spPr>
          <a:xfrm>
            <a:off x="876300" y="11049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3154D4"/>
                </a:solidFill>
                <a:latin typeface="Poppins"/>
              </a:rPr>
              <a:t>Batch Processing Overview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1130300" y="3251200"/>
            <a:ext cx="41529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 dirty="0">
                <a:solidFill>
                  <a:srgbClr val="3154D4"/>
                </a:solidFill>
                <a:latin typeface="Poppins"/>
              </a:rPr>
              <a:t>Multi-Layer</a:t>
            </a:r>
            <a:r>
              <a:rPr lang="en-US" sz="2900" b="1" dirty="0">
                <a:solidFill>
                  <a:srgbClr val="3154D4"/>
                </a:solidFill>
                <a:latin typeface="Poppins"/>
              </a:rPr>
              <a:t> ELT Pipeline</a:t>
            </a:r>
            <a:endParaRPr lang="en-US" sz="1100" dirty="0"/>
          </a:p>
        </p:txBody>
      </p:sp>
      <p:sp>
        <p:nvSpPr>
          <p:cNvPr id="13" name="TextBox 13"/>
          <p:cNvSpPr txBox="1"/>
          <p:nvPr/>
        </p:nvSpPr>
        <p:spPr>
          <a:xfrm>
            <a:off x="6045200" y="3251200"/>
            <a:ext cx="41529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800" b="1" dirty="0">
                <a:solidFill>
                  <a:srgbClr val="3154D4"/>
                </a:solidFill>
                <a:latin typeface="Poppins"/>
              </a:rPr>
              <a:t>Data Loading Strategy</a:t>
            </a:r>
            <a:endParaRPr lang="en-US" sz="2800" dirty="0"/>
          </a:p>
        </p:txBody>
      </p:sp>
      <p:sp>
        <p:nvSpPr>
          <p:cNvPr id="14" name="TextBox 14"/>
          <p:cNvSpPr txBox="1"/>
          <p:nvPr/>
        </p:nvSpPr>
        <p:spPr>
          <a:xfrm>
            <a:off x="10960100" y="3251200"/>
            <a:ext cx="41529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800" b="1" dirty="0">
                <a:solidFill>
                  <a:srgbClr val="3154D4"/>
                </a:solidFill>
                <a:latin typeface="Poppins"/>
              </a:rPr>
              <a:t>Processing &amp; Transformation</a:t>
            </a:r>
            <a:endParaRPr lang="en-US" sz="2800" dirty="0"/>
          </a:p>
        </p:txBody>
      </p:sp>
      <p:sp>
        <p:nvSpPr>
          <p:cNvPr id="15" name="TextBox 15"/>
          <p:cNvSpPr txBox="1"/>
          <p:nvPr/>
        </p:nvSpPr>
        <p:spPr>
          <a:xfrm>
            <a:off x="1384300" y="4356100"/>
            <a:ext cx="3898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Bronze → Silver → Gold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1384300" y="4927600"/>
            <a:ext cx="3898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Full + Incremental loads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384300" y="5511800"/>
            <a:ext cx="3898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Schema-based modeling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6299200" y="4356100"/>
            <a:ext cx="38989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 dirty="0" err="1">
                <a:solidFill>
                  <a:srgbClr val="030303"/>
                </a:solidFill>
                <a:latin typeface="Poppins"/>
              </a:rPr>
              <a:t>RawDataExtraction</a:t>
            </a:r>
            <a:r>
              <a:rPr lang="en-US" sz="1900" b="1" dirty="0">
                <a:solidFill>
                  <a:srgbClr val="030303"/>
                </a:solidFill>
                <a:latin typeface="Poppins"/>
              </a:rPr>
              <a:t> → Fetch data from API in two modes Full &amp; Inc</a:t>
            </a:r>
            <a:endParaRPr lang="en-US" sz="1100" dirty="0"/>
          </a:p>
        </p:txBody>
      </p:sp>
      <p:sp>
        <p:nvSpPr>
          <p:cNvPr id="19" name="TextBox 19"/>
          <p:cNvSpPr txBox="1"/>
          <p:nvPr/>
        </p:nvSpPr>
        <p:spPr>
          <a:xfrm>
            <a:off x="6299200" y="5486400"/>
            <a:ext cx="38989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 dirty="0" err="1">
                <a:solidFill>
                  <a:srgbClr val="030303"/>
                </a:solidFill>
                <a:latin typeface="Poppins"/>
              </a:rPr>
              <a:t>DataIntegration</a:t>
            </a:r>
            <a:r>
              <a:rPr lang="en-US" sz="1900" b="1" dirty="0">
                <a:solidFill>
                  <a:srgbClr val="030303"/>
                </a:solidFill>
                <a:latin typeface="Poppins"/>
              </a:rPr>
              <a:t>→ Connect and load data to OLTP Postgres</a:t>
            </a:r>
            <a:endParaRPr lang="en-US" sz="1100" dirty="0"/>
          </a:p>
        </p:txBody>
      </p:sp>
      <p:sp>
        <p:nvSpPr>
          <p:cNvPr id="20" name="TextBox 20"/>
          <p:cNvSpPr txBox="1"/>
          <p:nvPr/>
        </p:nvSpPr>
        <p:spPr>
          <a:xfrm>
            <a:off x="11214100" y="4356100"/>
            <a:ext cx="38989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Bronze: Raw data as source of truth.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1214100" y="5194300"/>
            <a:ext cx="3898900" cy="151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 dirty="0">
                <a:solidFill>
                  <a:srgbClr val="030303"/>
                </a:solidFill>
                <a:latin typeface="Poppins"/>
              </a:rPr>
              <a:t>Silver: Cast types, standardize timestamps, duplicates, enrich metadata </a:t>
            </a:r>
            <a:endParaRPr lang="en-US" sz="1100" dirty="0"/>
          </a:p>
        </p:txBody>
      </p:sp>
      <p:sp>
        <p:nvSpPr>
          <p:cNvPr id="22" name="TextBox 22"/>
          <p:cNvSpPr txBox="1"/>
          <p:nvPr/>
        </p:nvSpPr>
        <p:spPr>
          <a:xfrm>
            <a:off x="11214100" y="6781800"/>
            <a:ext cx="38989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 dirty="0">
                <a:solidFill>
                  <a:srgbClr val="030303"/>
                </a:solidFill>
                <a:latin typeface="Poppins"/>
              </a:rPr>
              <a:t>Gold: Star Schema curated</a:t>
            </a:r>
            <a:endParaRPr lang="en-US" sz="1100" dirty="0"/>
          </a:p>
        </p:txBody>
      </p:sp>
      <p:sp>
        <p:nvSpPr>
          <p:cNvPr id="23" name="TextBox 23"/>
          <p:cNvSpPr txBox="1"/>
          <p:nvPr/>
        </p:nvSpPr>
        <p:spPr>
          <a:xfrm>
            <a:off x="1003300" y="44069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1003300" y="49911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1003300" y="55753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5918200" y="44069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5918200" y="57404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8" name="TextBox 28"/>
          <p:cNvSpPr txBox="1"/>
          <p:nvPr/>
        </p:nvSpPr>
        <p:spPr>
          <a:xfrm>
            <a:off x="10833100" y="44069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9" name="TextBox 29"/>
          <p:cNvSpPr txBox="1"/>
          <p:nvPr/>
        </p:nvSpPr>
        <p:spPr>
          <a:xfrm>
            <a:off x="10833100" y="53721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10833100" y="70866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3"/>
          <a:srcRect t="7000" b="7000"/>
          <a:stretch>
            <a:fillRect/>
          </a:stretch>
        </p:blipFill>
        <p:spPr>
          <a:xfrm>
            <a:off x="1358900" y="2501900"/>
            <a:ext cx="279400" cy="2413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299200" y="2501900"/>
            <a:ext cx="241300" cy="2413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1214100" y="2501900"/>
            <a:ext cx="241300" cy="241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GB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876300" y="609600"/>
            <a:ext cx="14490700" cy="1066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 dirty="0">
                <a:solidFill>
                  <a:srgbClr val="3154D4"/>
                </a:solidFill>
                <a:latin typeface="Poppins"/>
              </a:rPr>
              <a:t>Architecture:</a:t>
            </a:r>
            <a:endParaRPr lang="en-US" sz="11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5EE3A4-B49E-DC3D-9754-C7B44AADC1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9860" y="1484906"/>
            <a:ext cx="11136279" cy="712569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GB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1422400"/>
            <a:ext cx="14490700" cy="7315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5" name="AutoShape 5"/>
          <p:cNvSpPr/>
          <p:nvPr/>
        </p:nvSpPr>
        <p:spPr>
          <a:xfrm>
            <a:off x="8115300" y="1422400"/>
            <a:ext cx="12700" cy="7315200"/>
          </a:xfrm>
          <a:prstGeom prst="roundRect">
            <a:avLst>
              <a:gd name="adj" fmla="val 50000"/>
            </a:avLst>
          </a:prstGeom>
          <a:solidFill>
            <a:srgbClr val="7280AF"/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AutoShape 6"/>
          <p:cNvSpPr/>
          <p:nvPr/>
        </p:nvSpPr>
        <p:spPr>
          <a:xfrm>
            <a:off x="876300" y="1422400"/>
            <a:ext cx="7239000" cy="1498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7" name="AutoShape 7"/>
          <p:cNvSpPr/>
          <p:nvPr/>
        </p:nvSpPr>
        <p:spPr>
          <a:xfrm>
            <a:off x="7835900" y="1422400"/>
            <a:ext cx="558800" cy="317500"/>
          </a:xfrm>
          <a:prstGeom prst="rect">
            <a:avLst/>
          </a:prstGeom>
          <a:solidFill>
            <a:srgbClr val="AAB4DC"/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AutoShape 8"/>
          <p:cNvSpPr/>
          <p:nvPr/>
        </p:nvSpPr>
        <p:spPr>
          <a:xfrm>
            <a:off x="7112000" y="1574800"/>
            <a:ext cx="749300" cy="12700"/>
          </a:xfrm>
          <a:prstGeom prst="rect">
            <a:avLst/>
          </a:prstGeom>
          <a:solidFill>
            <a:srgbClr val="7280AF"/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AutoShape 9"/>
          <p:cNvSpPr/>
          <p:nvPr/>
        </p:nvSpPr>
        <p:spPr>
          <a:xfrm>
            <a:off x="876300" y="1460500"/>
            <a:ext cx="5981700" cy="1447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AutoShape 10"/>
          <p:cNvSpPr/>
          <p:nvPr/>
        </p:nvSpPr>
        <p:spPr>
          <a:xfrm>
            <a:off x="8115300" y="2286000"/>
            <a:ext cx="7239000" cy="152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AutoShape 11"/>
          <p:cNvSpPr/>
          <p:nvPr/>
        </p:nvSpPr>
        <p:spPr>
          <a:xfrm>
            <a:off x="7835900" y="2286000"/>
            <a:ext cx="558800" cy="317500"/>
          </a:xfrm>
          <a:prstGeom prst="rect">
            <a:avLst/>
          </a:prstGeom>
          <a:solidFill>
            <a:srgbClr val="AAB4DC"/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AutoShape 12"/>
          <p:cNvSpPr/>
          <p:nvPr/>
        </p:nvSpPr>
        <p:spPr>
          <a:xfrm>
            <a:off x="8382000" y="2438400"/>
            <a:ext cx="749300" cy="12700"/>
          </a:xfrm>
          <a:prstGeom prst="rect">
            <a:avLst/>
          </a:prstGeom>
          <a:solidFill>
            <a:srgbClr val="7280AF"/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AutoShape 13"/>
          <p:cNvSpPr/>
          <p:nvPr/>
        </p:nvSpPr>
        <p:spPr>
          <a:xfrm>
            <a:off x="9385300" y="2336800"/>
            <a:ext cx="5981700" cy="1231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AutoShape 14"/>
          <p:cNvSpPr/>
          <p:nvPr/>
        </p:nvSpPr>
        <p:spPr>
          <a:xfrm>
            <a:off x="876300" y="3213100"/>
            <a:ext cx="7239000" cy="1498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AutoShape 15"/>
          <p:cNvSpPr/>
          <p:nvPr/>
        </p:nvSpPr>
        <p:spPr>
          <a:xfrm>
            <a:off x="7835900" y="3213100"/>
            <a:ext cx="558800" cy="317500"/>
          </a:xfrm>
          <a:prstGeom prst="rect">
            <a:avLst/>
          </a:prstGeom>
          <a:solidFill>
            <a:srgbClr val="AAB4DC"/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AutoShape 16"/>
          <p:cNvSpPr/>
          <p:nvPr/>
        </p:nvSpPr>
        <p:spPr>
          <a:xfrm>
            <a:off x="7112000" y="3365500"/>
            <a:ext cx="749300" cy="12700"/>
          </a:xfrm>
          <a:prstGeom prst="rect">
            <a:avLst/>
          </a:prstGeom>
          <a:solidFill>
            <a:srgbClr val="7280AF"/>
          </a:solidFill>
        </p:spPr>
        <p:txBody>
          <a:bodyPr/>
          <a:lstStyle/>
          <a:p>
            <a:endParaRPr lang="en-GB"/>
          </a:p>
        </p:txBody>
      </p:sp>
      <p:sp>
        <p:nvSpPr>
          <p:cNvPr id="17" name="AutoShape 17"/>
          <p:cNvSpPr/>
          <p:nvPr/>
        </p:nvSpPr>
        <p:spPr>
          <a:xfrm>
            <a:off x="876300" y="3251200"/>
            <a:ext cx="5981700" cy="1447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18" name="AutoShape 18"/>
          <p:cNvSpPr/>
          <p:nvPr/>
        </p:nvSpPr>
        <p:spPr>
          <a:xfrm>
            <a:off x="8115300" y="4102100"/>
            <a:ext cx="7239000" cy="1498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19" name="AutoShape 19"/>
          <p:cNvSpPr/>
          <p:nvPr/>
        </p:nvSpPr>
        <p:spPr>
          <a:xfrm>
            <a:off x="7835900" y="4102100"/>
            <a:ext cx="558800" cy="317500"/>
          </a:xfrm>
          <a:prstGeom prst="rect">
            <a:avLst/>
          </a:prstGeom>
          <a:solidFill>
            <a:srgbClr val="AAB4DC"/>
          </a:solidFill>
        </p:spPr>
        <p:txBody>
          <a:bodyPr/>
          <a:lstStyle/>
          <a:p>
            <a:endParaRPr lang="en-GB"/>
          </a:p>
        </p:txBody>
      </p:sp>
      <p:sp>
        <p:nvSpPr>
          <p:cNvPr id="20" name="AutoShape 20"/>
          <p:cNvSpPr/>
          <p:nvPr/>
        </p:nvSpPr>
        <p:spPr>
          <a:xfrm>
            <a:off x="8382000" y="4254500"/>
            <a:ext cx="749300" cy="12700"/>
          </a:xfrm>
          <a:prstGeom prst="rect">
            <a:avLst/>
          </a:prstGeom>
          <a:solidFill>
            <a:srgbClr val="7280AF"/>
          </a:solidFill>
        </p:spPr>
        <p:txBody>
          <a:bodyPr/>
          <a:lstStyle/>
          <a:p>
            <a:endParaRPr lang="en-GB"/>
          </a:p>
        </p:txBody>
      </p:sp>
      <p:sp>
        <p:nvSpPr>
          <p:cNvPr id="21" name="AutoShape 21"/>
          <p:cNvSpPr/>
          <p:nvPr/>
        </p:nvSpPr>
        <p:spPr>
          <a:xfrm>
            <a:off x="9385300" y="4152900"/>
            <a:ext cx="5981700" cy="1447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22" name="AutoShape 22"/>
          <p:cNvSpPr/>
          <p:nvPr/>
        </p:nvSpPr>
        <p:spPr>
          <a:xfrm>
            <a:off x="876300" y="5003800"/>
            <a:ext cx="7239000" cy="1498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23" name="AutoShape 23"/>
          <p:cNvSpPr/>
          <p:nvPr/>
        </p:nvSpPr>
        <p:spPr>
          <a:xfrm>
            <a:off x="7835900" y="5003800"/>
            <a:ext cx="558800" cy="317500"/>
          </a:xfrm>
          <a:prstGeom prst="rect">
            <a:avLst/>
          </a:prstGeom>
          <a:solidFill>
            <a:srgbClr val="AAB4DC"/>
          </a:solidFill>
        </p:spPr>
        <p:txBody>
          <a:bodyPr/>
          <a:lstStyle/>
          <a:p>
            <a:endParaRPr lang="en-GB"/>
          </a:p>
        </p:txBody>
      </p:sp>
      <p:sp>
        <p:nvSpPr>
          <p:cNvPr id="24" name="AutoShape 24"/>
          <p:cNvSpPr/>
          <p:nvPr/>
        </p:nvSpPr>
        <p:spPr>
          <a:xfrm>
            <a:off x="7112000" y="5156200"/>
            <a:ext cx="749300" cy="12700"/>
          </a:xfrm>
          <a:prstGeom prst="rect">
            <a:avLst/>
          </a:prstGeom>
          <a:solidFill>
            <a:srgbClr val="7280AF"/>
          </a:solidFill>
        </p:spPr>
        <p:txBody>
          <a:bodyPr/>
          <a:lstStyle/>
          <a:p>
            <a:endParaRPr lang="en-GB"/>
          </a:p>
        </p:txBody>
      </p:sp>
      <p:sp>
        <p:nvSpPr>
          <p:cNvPr id="25" name="AutoShape 25"/>
          <p:cNvSpPr/>
          <p:nvPr/>
        </p:nvSpPr>
        <p:spPr>
          <a:xfrm>
            <a:off x="876300" y="5054600"/>
            <a:ext cx="5981700" cy="1447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26" name="AutoShape 26"/>
          <p:cNvSpPr/>
          <p:nvPr/>
        </p:nvSpPr>
        <p:spPr>
          <a:xfrm>
            <a:off x="8115300" y="5892800"/>
            <a:ext cx="7239000" cy="1384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27" name="AutoShape 27"/>
          <p:cNvSpPr/>
          <p:nvPr/>
        </p:nvSpPr>
        <p:spPr>
          <a:xfrm>
            <a:off x="7835900" y="5892800"/>
            <a:ext cx="558800" cy="317500"/>
          </a:xfrm>
          <a:prstGeom prst="rect">
            <a:avLst/>
          </a:prstGeom>
          <a:solidFill>
            <a:srgbClr val="AAB4DC"/>
          </a:solidFill>
        </p:spPr>
        <p:txBody>
          <a:bodyPr/>
          <a:lstStyle/>
          <a:p>
            <a:endParaRPr lang="en-GB"/>
          </a:p>
        </p:txBody>
      </p:sp>
      <p:sp>
        <p:nvSpPr>
          <p:cNvPr id="28" name="AutoShape 28"/>
          <p:cNvSpPr/>
          <p:nvPr/>
        </p:nvSpPr>
        <p:spPr>
          <a:xfrm>
            <a:off x="8382000" y="6045200"/>
            <a:ext cx="749300" cy="12700"/>
          </a:xfrm>
          <a:prstGeom prst="rect">
            <a:avLst/>
          </a:prstGeom>
          <a:solidFill>
            <a:srgbClr val="7280AF"/>
          </a:solidFill>
        </p:spPr>
        <p:txBody>
          <a:bodyPr/>
          <a:lstStyle/>
          <a:p>
            <a:endParaRPr lang="en-GB"/>
          </a:p>
        </p:txBody>
      </p:sp>
      <p:sp>
        <p:nvSpPr>
          <p:cNvPr id="29" name="AutoShape 29"/>
          <p:cNvSpPr/>
          <p:nvPr/>
        </p:nvSpPr>
        <p:spPr>
          <a:xfrm>
            <a:off x="9385300" y="5943600"/>
            <a:ext cx="5981700" cy="1231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30" name="AutoShape 30"/>
          <p:cNvSpPr/>
          <p:nvPr/>
        </p:nvSpPr>
        <p:spPr>
          <a:xfrm>
            <a:off x="876300" y="6794500"/>
            <a:ext cx="7239000" cy="1219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31" name="AutoShape 31"/>
          <p:cNvSpPr/>
          <p:nvPr/>
        </p:nvSpPr>
        <p:spPr>
          <a:xfrm>
            <a:off x="7835900" y="6794500"/>
            <a:ext cx="558800" cy="317500"/>
          </a:xfrm>
          <a:prstGeom prst="rect">
            <a:avLst/>
          </a:prstGeom>
          <a:solidFill>
            <a:srgbClr val="AAB4DC"/>
          </a:solidFill>
        </p:spPr>
        <p:txBody>
          <a:bodyPr/>
          <a:lstStyle/>
          <a:p>
            <a:endParaRPr lang="en-GB"/>
          </a:p>
        </p:txBody>
      </p:sp>
      <p:sp>
        <p:nvSpPr>
          <p:cNvPr id="32" name="AutoShape 32"/>
          <p:cNvSpPr/>
          <p:nvPr/>
        </p:nvSpPr>
        <p:spPr>
          <a:xfrm>
            <a:off x="7112000" y="6946900"/>
            <a:ext cx="749300" cy="12700"/>
          </a:xfrm>
          <a:prstGeom prst="rect">
            <a:avLst/>
          </a:prstGeom>
          <a:solidFill>
            <a:srgbClr val="7280AF"/>
          </a:solidFill>
        </p:spPr>
        <p:txBody>
          <a:bodyPr/>
          <a:lstStyle/>
          <a:p>
            <a:endParaRPr lang="en-GB"/>
          </a:p>
        </p:txBody>
      </p:sp>
      <p:sp>
        <p:nvSpPr>
          <p:cNvPr id="33" name="AutoShape 33"/>
          <p:cNvSpPr/>
          <p:nvPr/>
        </p:nvSpPr>
        <p:spPr>
          <a:xfrm>
            <a:off x="876300" y="6845300"/>
            <a:ext cx="5981700" cy="787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34" name="AutoShape 34"/>
          <p:cNvSpPr/>
          <p:nvPr/>
        </p:nvSpPr>
        <p:spPr>
          <a:xfrm>
            <a:off x="8115300" y="7581900"/>
            <a:ext cx="7239000" cy="1155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35" name="AutoShape 35"/>
          <p:cNvSpPr/>
          <p:nvPr/>
        </p:nvSpPr>
        <p:spPr>
          <a:xfrm>
            <a:off x="7835900" y="7581900"/>
            <a:ext cx="558800" cy="317500"/>
          </a:xfrm>
          <a:prstGeom prst="rect">
            <a:avLst/>
          </a:prstGeom>
          <a:solidFill>
            <a:srgbClr val="AAB4DC"/>
          </a:solidFill>
        </p:spPr>
        <p:txBody>
          <a:bodyPr/>
          <a:lstStyle/>
          <a:p>
            <a:endParaRPr lang="en-GB"/>
          </a:p>
        </p:txBody>
      </p:sp>
      <p:sp>
        <p:nvSpPr>
          <p:cNvPr id="36" name="AutoShape 36"/>
          <p:cNvSpPr/>
          <p:nvPr/>
        </p:nvSpPr>
        <p:spPr>
          <a:xfrm>
            <a:off x="8382000" y="7734300"/>
            <a:ext cx="749300" cy="12700"/>
          </a:xfrm>
          <a:prstGeom prst="rect">
            <a:avLst/>
          </a:prstGeom>
          <a:solidFill>
            <a:srgbClr val="7280AF"/>
          </a:solidFill>
        </p:spPr>
        <p:txBody>
          <a:bodyPr/>
          <a:lstStyle/>
          <a:p>
            <a:endParaRPr lang="en-GB"/>
          </a:p>
        </p:txBody>
      </p:sp>
      <p:sp>
        <p:nvSpPr>
          <p:cNvPr id="37" name="AutoShape 37"/>
          <p:cNvSpPr/>
          <p:nvPr/>
        </p:nvSpPr>
        <p:spPr>
          <a:xfrm>
            <a:off x="9385300" y="7632700"/>
            <a:ext cx="5981700" cy="1003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38" name="TextBox 38"/>
          <p:cNvSpPr txBox="1"/>
          <p:nvPr/>
        </p:nvSpPr>
        <p:spPr>
          <a:xfrm>
            <a:off x="876300" y="901700"/>
            <a:ext cx="144907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200" b="1">
                <a:solidFill>
                  <a:srgbClr val="3154D4"/>
                </a:solidFill>
                <a:latin typeface="Poppins"/>
              </a:rPr>
              <a:t>Architecture: Pipeline Data Flow</a:t>
            </a:r>
            <a:endParaRPr lang="en-US" sz="1100"/>
          </a:p>
        </p:txBody>
      </p:sp>
      <p:sp>
        <p:nvSpPr>
          <p:cNvPr id="39" name="TextBox 39"/>
          <p:cNvSpPr txBox="1"/>
          <p:nvPr/>
        </p:nvSpPr>
        <p:spPr>
          <a:xfrm>
            <a:off x="876300" y="1460500"/>
            <a:ext cx="59817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r">
              <a:lnSpc>
                <a:spcPct val="120000"/>
              </a:lnSpc>
              <a:defRPr/>
            </a:pPr>
            <a:r>
              <a:rPr lang="en-US" sz="1700" b="1">
                <a:solidFill>
                  <a:srgbClr val="3154D4"/>
                </a:solidFill>
                <a:latin typeface="Poppins"/>
              </a:rPr>
              <a:t>Stage 1: Data Source</a:t>
            </a:r>
            <a:endParaRPr lang="en-US" sz="1100"/>
          </a:p>
        </p:txBody>
      </p:sp>
      <p:sp>
        <p:nvSpPr>
          <p:cNvPr id="40" name="TextBox 40"/>
          <p:cNvSpPr txBox="1"/>
          <p:nvPr/>
        </p:nvSpPr>
        <p:spPr>
          <a:xfrm>
            <a:off x="9385300" y="2336800"/>
            <a:ext cx="59817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1700" b="1">
                <a:solidFill>
                  <a:srgbClr val="3154D4"/>
                </a:solidFill>
                <a:latin typeface="Poppins"/>
              </a:rPr>
              <a:t>Stage 2: Data Extraction</a:t>
            </a:r>
            <a:endParaRPr lang="en-US" sz="1100"/>
          </a:p>
        </p:txBody>
      </p:sp>
      <p:sp>
        <p:nvSpPr>
          <p:cNvPr id="41" name="TextBox 41"/>
          <p:cNvSpPr txBox="1"/>
          <p:nvPr/>
        </p:nvSpPr>
        <p:spPr>
          <a:xfrm>
            <a:off x="876300" y="3251200"/>
            <a:ext cx="59817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r">
              <a:lnSpc>
                <a:spcPct val="120000"/>
              </a:lnSpc>
              <a:defRPr/>
            </a:pPr>
            <a:r>
              <a:rPr lang="en-US" sz="1700" b="1">
                <a:solidFill>
                  <a:srgbClr val="3154D4"/>
                </a:solidFill>
                <a:latin typeface="Poppins"/>
              </a:rPr>
              <a:t>Stage 3: Data Ingestion</a:t>
            </a:r>
            <a:endParaRPr lang="en-US" sz="1100"/>
          </a:p>
        </p:txBody>
      </p:sp>
      <p:sp>
        <p:nvSpPr>
          <p:cNvPr id="42" name="TextBox 42"/>
          <p:cNvSpPr txBox="1"/>
          <p:nvPr/>
        </p:nvSpPr>
        <p:spPr>
          <a:xfrm>
            <a:off x="9385300" y="4152900"/>
            <a:ext cx="59817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1700" b="1">
                <a:solidFill>
                  <a:srgbClr val="3154D4"/>
                </a:solidFill>
                <a:latin typeface="Poppins"/>
              </a:rPr>
              <a:t>Stage 4: Data Transfer</a:t>
            </a:r>
            <a:endParaRPr lang="en-US" sz="1100"/>
          </a:p>
        </p:txBody>
      </p:sp>
      <p:sp>
        <p:nvSpPr>
          <p:cNvPr id="43" name="TextBox 43"/>
          <p:cNvSpPr txBox="1"/>
          <p:nvPr/>
        </p:nvSpPr>
        <p:spPr>
          <a:xfrm>
            <a:off x="876300" y="5054600"/>
            <a:ext cx="59817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r">
              <a:lnSpc>
                <a:spcPct val="120000"/>
              </a:lnSpc>
              <a:defRPr/>
            </a:pPr>
            <a:r>
              <a:rPr lang="en-US" sz="1700" b="1">
                <a:solidFill>
                  <a:srgbClr val="3154D4"/>
                </a:solidFill>
                <a:latin typeface="Poppins"/>
              </a:rPr>
              <a:t>Stage 5: Data Processing</a:t>
            </a:r>
            <a:endParaRPr lang="en-US" sz="1100"/>
          </a:p>
        </p:txBody>
      </p:sp>
      <p:sp>
        <p:nvSpPr>
          <p:cNvPr id="44" name="TextBox 44"/>
          <p:cNvSpPr txBox="1"/>
          <p:nvPr/>
        </p:nvSpPr>
        <p:spPr>
          <a:xfrm>
            <a:off x="9385300" y="5943600"/>
            <a:ext cx="59817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1700" b="1">
                <a:solidFill>
                  <a:srgbClr val="3154D4"/>
                </a:solidFill>
                <a:latin typeface="Poppins"/>
              </a:rPr>
              <a:t>Stage 6: Data Modeling</a:t>
            </a:r>
            <a:endParaRPr lang="en-US" sz="1100"/>
          </a:p>
        </p:txBody>
      </p:sp>
      <p:sp>
        <p:nvSpPr>
          <p:cNvPr id="45" name="TextBox 45"/>
          <p:cNvSpPr txBox="1"/>
          <p:nvPr/>
        </p:nvSpPr>
        <p:spPr>
          <a:xfrm>
            <a:off x="876300" y="6845300"/>
            <a:ext cx="59817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r">
              <a:lnSpc>
                <a:spcPct val="120000"/>
              </a:lnSpc>
              <a:defRPr/>
            </a:pPr>
            <a:r>
              <a:rPr lang="en-US" sz="1700" b="1">
                <a:solidFill>
                  <a:srgbClr val="3154D4"/>
                </a:solidFill>
                <a:latin typeface="Poppins"/>
              </a:rPr>
              <a:t>Stage 7: Query Engine</a:t>
            </a:r>
            <a:endParaRPr lang="en-US" sz="1100"/>
          </a:p>
        </p:txBody>
      </p:sp>
      <p:sp>
        <p:nvSpPr>
          <p:cNvPr id="46" name="TextBox 46"/>
          <p:cNvSpPr txBox="1"/>
          <p:nvPr/>
        </p:nvSpPr>
        <p:spPr>
          <a:xfrm>
            <a:off x="9385300" y="7632700"/>
            <a:ext cx="59817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1700" b="1">
                <a:solidFill>
                  <a:srgbClr val="3154D4"/>
                </a:solidFill>
                <a:latin typeface="Poppins"/>
              </a:rPr>
              <a:t>Stage 8:  Dashboard</a:t>
            </a:r>
            <a:endParaRPr lang="en-US" sz="1100"/>
          </a:p>
        </p:txBody>
      </p:sp>
      <p:sp>
        <p:nvSpPr>
          <p:cNvPr id="47" name="TextBox 47"/>
          <p:cNvSpPr txBox="1"/>
          <p:nvPr/>
        </p:nvSpPr>
        <p:spPr>
          <a:xfrm>
            <a:off x="876300" y="1828800"/>
            <a:ext cx="5981700" cy="1079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r">
              <a:lnSpc>
                <a:spcPct val="150000"/>
              </a:lnSpc>
              <a:defRPr/>
            </a:pPr>
            <a:r>
              <a:rPr lang="en-US" sz="1100" b="1">
                <a:solidFill>
                  <a:srgbClr val="030303"/>
                </a:solidFill>
                <a:latin typeface="Poppins"/>
              </a:rPr>
              <a:t>TfL Public API provides real-time operational data for 6 tube lines (Bakerloo, Central, Metropolitan, Northern, Piccadilly, Victoria) with continuous train arrivals and station information updates.</a:t>
            </a:r>
            <a:endParaRPr lang="en-US" sz="1100"/>
          </a:p>
        </p:txBody>
      </p:sp>
      <p:sp>
        <p:nvSpPr>
          <p:cNvPr id="48" name="TextBox 48"/>
          <p:cNvSpPr txBox="1"/>
          <p:nvPr/>
        </p:nvSpPr>
        <p:spPr>
          <a:xfrm>
            <a:off x="9385300" y="2705100"/>
            <a:ext cx="5981700" cy="863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100" b="1">
                <a:solidFill>
                  <a:srgbClr val="030303"/>
                </a:solidFill>
                <a:latin typeface="Poppins"/>
              </a:rPr>
              <a:t>rawdataextraction.py script calls multiple TfL API endpoints, extracts live arrival data, and saves raw output as CSV files with support for scheduled runs and full and incremental loads.</a:t>
            </a:r>
            <a:endParaRPr lang="en-US" sz="1100"/>
          </a:p>
        </p:txBody>
      </p:sp>
      <p:sp>
        <p:nvSpPr>
          <p:cNvPr id="49" name="TextBox 49"/>
          <p:cNvSpPr txBox="1"/>
          <p:nvPr/>
        </p:nvSpPr>
        <p:spPr>
          <a:xfrm>
            <a:off x="876300" y="3619500"/>
            <a:ext cx="5981700" cy="1079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r">
              <a:lnSpc>
                <a:spcPct val="150000"/>
              </a:lnSpc>
              <a:defRPr/>
            </a:pPr>
            <a:r>
              <a:rPr lang="en-US" sz="1100" b="1">
                <a:solidFill>
                  <a:srgbClr val="030303"/>
                </a:solidFill>
                <a:latin typeface="Poppins"/>
              </a:rPr>
              <a:t>dataintegration.py connects to PostgreSQL database, loads extracted data into Postgres landing zone, performs data validation, logging, and acts as the primary data ingestion module.</a:t>
            </a:r>
            <a:endParaRPr lang="en-US" sz="1100"/>
          </a:p>
        </p:txBody>
      </p:sp>
      <p:sp>
        <p:nvSpPr>
          <p:cNvPr id="50" name="TextBox 50"/>
          <p:cNvSpPr txBox="1"/>
          <p:nvPr/>
        </p:nvSpPr>
        <p:spPr>
          <a:xfrm>
            <a:off x="9385300" y="4521200"/>
            <a:ext cx="5981700" cy="1079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100" b="1">
                <a:solidFill>
                  <a:srgbClr val="030303"/>
                </a:solidFill>
                <a:latin typeface="Poppins"/>
              </a:rPr>
              <a:t>Sqoop extracts data from PostgreSQL database and transfers it into HDFS Bronze Layer. Hive external tables created on Bronze layer for raw data exploration without modifications.</a:t>
            </a:r>
            <a:endParaRPr lang="en-US" sz="1100"/>
          </a:p>
        </p:txBody>
      </p:sp>
      <p:sp>
        <p:nvSpPr>
          <p:cNvPr id="51" name="TextBox 51"/>
          <p:cNvSpPr txBox="1"/>
          <p:nvPr/>
        </p:nvSpPr>
        <p:spPr>
          <a:xfrm>
            <a:off x="876300" y="5410200"/>
            <a:ext cx="5981700" cy="1079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r">
              <a:lnSpc>
                <a:spcPct val="150000"/>
              </a:lnSpc>
              <a:defRPr/>
            </a:pPr>
            <a:r>
              <a:rPr lang="en-US" sz="1100" b="1">
                <a:solidFill>
                  <a:srgbClr val="030303"/>
                </a:solidFill>
                <a:latin typeface="Poppins"/>
              </a:rPr>
              <a:t>PySpark transformations applied in Silver layer: data type casting, timestamp standardization, duplicate removal, train classification, metadata enrichment, and schema alignment across all 6 tube lines.</a:t>
            </a:r>
            <a:endParaRPr lang="en-US" sz="1100"/>
          </a:p>
        </p:txBody>
      </p:sp>
      <p:sp>
        <p:nvSpPr>
          <p:cNvPr id="52" name="TextBox 52"/>
          <p:cNvSpPr txBox="1"/>
          <p:nvPr/>
        </p:nvSpPr>
        <p:spPr>
          <a:xfrm>
            <a:off x="9385300" y="6311900"/>
            <a:ext cx="5981700" cy="863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100" b="1">
                <a:solidFill>
                  <a:srgbClr val="030303"/>
                </a:solidFill>
                <a:latin typeface="Poppins"/>
              </a:rPr>
              <a:t>Gold layer implements Star Schema design with fact and dimension tables . Data stored in partitioned Parquet format for optimized performance and analytics readiness.</a:t>
            </a:r>
            <a:endParaRPr lang="en-US" sz="1100"/>
          </a:p>
        </p:txBody>
      </p:sp>
      <p:sp>
        <p:nvSpPr>
          <p:cNvPr id="53" name="TextBox 53"/>
          <p:cNvSpPr txBox="1"/>
          <p:nvPr/>
        </p:nvSpPr>
        <p:spPr>
          <a:xfrm>
            <a:off x="876300" y="7200900"/>
            <a:ext cx="5981700" cy="431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r">
              <a:lnSpc>
                <a:spcPct val="150000"/>
              </a:lnSpc>
              <a:defRPr/>
            </a:pPr>
            <a:r>
              <a:rPr lang="en-US" sz="1100" b="1">
                <a:solidFill>
                  <a:srgbClr val="030303"/>
                </a:solidFill>
                <a:latin typeface="Poppins"/>
              </a:rPr>
              <a:t>Hive provides fast interactive querying over the Gold layer Star Schema. </a:t>
            </a:r>
            <a:endParaRPr lang="en-US" sz="1100"/>
          </a:p>
        </p:txBody>
      </p:sp>
      <p:sp>
        <p:nvSpPr>
          <p:cNvPr id="54" name="TextBox 54"/>
          <p:cNvSpPr txBox="1"/>
          <p:nvPr/>
        </p:nvSpPr>
        <p:spPr>
          <a:xfrm>
            <a:off x="9385300" y="7988300"/>
            <a:ext cx="5981700" cy="647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100" b="1">
                <a:solidFill>
                  <a:srgbClr val="030303"/>
                </a:solidFill>
                <a:latin typeface="Poppins"/>
              </a:rPr>
              <a:t>PowerBI connects directly to Gold tables via Impala, delivering cleaned, enriched, business-ready datasets .</a:t>
            </a:r>
            <a:endParaRPr lang="en-US" sz="1100"/>
          </a:p>
        </p:txBody>
      </p:sp>
      <p:pic>
        <p:nvPicPr>
          <p:cNvPr id="55" name="Picture 55"/>
          <p:cNvPicPr>
            <a:picLocks noChangeAspect="1"/>
          </p:cNvPicPr>
          <p:nvPr/>
        </p:nvPicPr>
        <p:blipFill>
          <a:blip r:embed="rId3"/>
          <a:srcRect t="18000" b="18000"/>
          <a:stretch>
            <a:fillRect/>
          </a:stretch>
        </p:blipFill>
        <p:spPr>
          <a:xfrm>
            <a:off x="8013700" y="1511300"/>
            <a:ext cx="215900" cy="139700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4"/>
          <a:srcRect t="11000" b="11000"/>
          <a:stretch>
            <a:fillRect/>
          </a:stretch>
        </p:blipFill>
        <p:spPr>
          <a:xfrm>
            <a:off x="8026400" y="2374900"/>
            <a:ext cx="177800" cy="139700"/>
          </a:xfrm>
          <a:prstGeom prst="rect">
            <a:avLst/>
          </a:prstGeom>
        </p:spPr>
      </p:pic>
      <p:pic>
        <p:nvPicPr>
          <p:cNvPr id="57" name="Picture 57"/>
          <p:cNvPicPr>
            <a:picLocks noChangeAspect="1"/>
          </p:cNvPicPr>
          <p:nvPr/>
        </p:nvPicPr>
        <p:blipFill>
          <a:blip r:embed="rId5"/>
          <a:srcRect t="22000" b="22000"/>
          <a:stretch>
            <a:fillRect/>
          </a:stretch>
        </p:blipFill>
        <p:spPr>
          <a:xfrm>
            <a:off x="8001000" y="3302000"/>
            <a:ext cx="241300" cy="139700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 r:embed="rId6"/>
          <a:srcRect t="25000" b="25000"/>
          <a:stretch>
            <a:fillRect/>
          </a:stretch>
        </p:blipFill>
        <p:spPr>
          <a:xfrm>
            <a:off x="7975600" y="4191000"/>
            <a:ext cx="279400" cy="139700"/>
          </a:xfrm>
          <a:prstGeom prst="rect">
            <a:avLst/>
          </a:prstGeom>
        </p:spPr>
      </p:pic>
      <p:pic>
        <p:nvPicPr>
          <p:cNvPr id="59" name="Picture 59"/>
          <p:cNvPicPr>
            <a:picLocks noChangeAspect="1"/>
          </p:cNvPicPr>
          <p:nvPr/>
        </p:nvPicPr>
        <p:blipFill>
          <a:blip r:embed="rId7"/>
          <a:srcRect t="28000" b="28000"/>
          <a:stretch>
            <a:fillRect/>
          </a:stretch>
        </p:blipFill>
        <p:spPr>
          <a:xfrm>
            <a:off x="7962900" y="5092700"/>
            <a:ext cx="304800" cy="139700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 r:embed="rId7"/>
          <a:srcRect t="25000" b="25000"/>
          <a:stretch>
            <a:fillRect/>
          </a:stretch>
        </p:blipFill>
        <p:spPr>
          <a:xfrm>
            <a:off x="7975600" y="5981700"/>
            <a:ext cx="279400" cy="139700"/>
          </a:xfrm>
          <a:prstGeom prst="rect">
            <a:avLst/>
          </a:prstGeom>
        </p:spPr>
      </p:pic>
      <p:pic>
        <p:nvPicPr>
          <p:cNvPr id="61" name="Picture 61"/>
          <p:cNvPicPr>
            <a:picLocks noChangeAspect="1"/>
          </p:cNvPicPr>
          <p:nvPr/>
        </p:nvPicPr>
        <p:blipFill>
          <a:blip r:embed="rId7"/>
          <a:srcRect t="22000" b="22000"/>
          <a:stretch>
            <a:fillRect/>
          </a:stretch>
        </p:blipFill>
        <p:spPr>
          <a:xfrm>
            <a:off x="8001000" y="6883400"/>
            <a:ext cx="241300" cy="139700"/>
          </a:xfrm>
          <a:prstGeom prst="rect">
            <a:avLst/>
          </a:prstGeom>
        </p:spPr>
      </p:pic>
      <p:pic>
        <p:nvPicPr>
          <p:cNvPr id="62" name="Picture 62"/>
          <p:cNvPicPr>
            <a:picLocks noChangeAspect="1"/>
          </p:cNvPicPr>
          <p:nvPr/>
        </p:nvPicPr>
        <p:blipFill>
          <a:blip r:embed="rId8"/>
          <a:srcRect t="22000" b="22000"/>
          <a:stretch>
            <a:fillRect/>
          </a:stretch>
        </p:blipFill>
        <p:spPr>
          <a:xfrm>
            <a:off x="8001000" y="7670800"/>
            <a:ext cx="241300" cy="139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F8EC3-7812-CB28-2937-F9AEDC333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AFA6091E-6949-C3BC-CE5C-43D472C7B86B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GB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878E3948-07B8-6852-223F-5E4766A435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3686712F-8035-05D6-A170-7E28CFC5DD9F}"/>
              </a:ext>
            </a:extLst>
          </p:cNvPr>
          <p:cNvSpPr txBox="1"/>
          <p:nvPr/>
        </p:nvSpPr>
        <p:spPr>
          <a:xfrm>
            <a:off x="876300" y="914400"/>
            <a:ext cx="14490700" cy="533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3900" b="1" dirty="0">
                <a:solidFill>
                  <a:srgbClr val="3154D4"/>
                </a:solidFill>
                <a:latin typeface="Poppins"/>
              </a:rPr>
              <a:t>Data Model: Star Schema Design</a:t>
            </a:r>
            <a:endParaRPr lang="en-US" sz="11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BE02B4-CA6B-E007-0436-46927DA665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8200" y="1550974"/>
            <a:ext cx="11125201" cy="6860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580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GB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1155700"/>
            <a:ext cx="14490700" cy="7467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5" name="AutoShape 5"/>
          <p:cNvSpPr/>
          <p:nvPr/>
        </p:nvSpPr>
        <p:spPr>
          <a:xfrm>
            <a:off x="876300" y="1155700"/>
            <a:ext cx="14490700" cy="1968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AutoShape 6"/>
          <p:cNvSpPr/>
          <p:nvPr/>
        </p:nvSpPr>
        <p:spPr>
          <a:xfrm>
            <a:off x="876300" y="1155700"/>
            <a:ext cx="14490700" cy="1968500"/>
          </a:xfrm>
          <a:prstGeom prst="roundRect">
            <a:avLst>
              <a:gd name="adj" fmla="val 3225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7" name="AutoShape 7"/>
          <p:cNvSpPr/>
          <p:nvPr/>
        </p:nvSpPr>
        <p:spPr>
          <a:xfrm>
            <a:off x="876300" y="1155700"/>
            <a:ext cx="241300" cy="1968500"/>
          </a:xfrm>
          <a:prstGeom prst="rect">
            <a:avLst/>
          </a:prstGeom>
          <a:solidFill>
            <a:srgbClr val="AAB4DC"/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AutoShape 8"/>
          <p:cNvSpPr/>
          <p:nvPr/>
        </p:nvSpPr>
        <p:spPr>
          <a:xfrm>
            <a:off x="1257300" y="3263900"/>
            <a:ext cx="14109700" cy="2819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AutoShape 9"/>
          <p:cNvSpPr/>
          <p:nvPr/>
        </p:nvSpPr>
        <p:spPr>
          <a:xfrm>
            <a:off x="1257300" y="3263900"/>
            <a:ext cx="14109700" cy="2819400"/>
          </a:xfrm>
          <a:prstGeom prst="roundRect">
            <a:avLst>
              <a:gd name="adj" fmla="val 2252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AutoShape 10"/>
          <p:cNvSpPr/>
          <p:nvPr/>
        </p:nvSpPr>
        <p:spPr>
          <a:xfrm>
            <a:off x="1257300" y="3263900"/>
            <a:ext cx="241300" cy="2819400"/>
          </a:xfrm>
          <a:prstGeom prst="rect">
            <a:avLst/>
          </a:prstGeom>
          <a:solidFill>
            <a:srgbClr val="AAB4DC"/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AutoShape 11"/>
          <p:cNvSpPr/>
          <p:nvPr/>
        </p:nvSpPr>
        <p:spPr>
          <a:xfrm>
            <a:off x="1625600" y="6235700"/>
            <a:ext cx="13728700" cy="2387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AutoShape 12"/>
          <p:cNvSpPr/>
          <p:nvPr/>
        </p:nvSpPr>
        <p:spPr>
          <a:xfrm>
            <a:off x="1625600" y="6235700"/>
            <a:ext cx="13728700" cy="2387600"/>
          </a:xfrm>
          <a:prstGeom prst="roundRect">
            <a:avLst>
              <a:gd name="adj" fmla="val 2659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AutoShape 13"/>
          <p:cNvSpPr/>
          <p:nvPr/>
        </p:nvSpPr>
        <p:spPr>
          <a:xfrm>
            <a:off x="1625600" y="6235700"/>
            <a:ext cx="241300" cy="2387600"/>
          </a:xfrm>
          <a:prstGeom prst="rect">
            <a:avLst/>
          </a:prstGeom>
          <a:solidFill>
            <a:srgbClr val="AAB4DC"/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TextBox 14"/>
          <p:cNvSpPr txBox="1"/>
          <p:nvPr/>
        </p:nvSpPr>
        <p:spPr>
          <a:xfrm>
            <a:off x="876300" y="508000"/>
            <a:ext cx="14490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 dirty="0">
                <a:solidFill>
                  <a:srgbClr val="3154D4"/>
                </a:solidFill>
                <a:latin typeface="Poppins"/>
              </a:rPr>
              <a:t>Implementation: Jenkins CI/CD Pipeline</a:t>
            </a:r>
            <a:endParaRPr lang="en-US" sz="1100" dirty="0"/>
          </a:p>
        </p:txBody>
      </p:sp>
      <p:sp>
        <p:nvSpPr>
          <p:cNvPr id="15" name="TextBox 15"/>
          <p:cNvSpPr txBox="1"/>
          <p:nvPr/>
        </p:nvSpPr>
        <p:spPr>
          <a:xfrm>
            <a:off x="1384300" y="1346200"/>
            <a:ext cx="13982700" cy="330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100" b="1">
                <a:solidFill>
                  <a:srgbClr val="3154D4"/>
                </a:solidFill>
                <a:latin typeface="Poppins"/>
              </a:rPr>
              <a:t>Jenkins Orchestration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1752600" y="3454400"/>
            <a:ext cx="13601700" cy="330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100" b="1">
                <a:solidFill>
                  <a:srgbClr val="3154D4"/>
                </a:solidFill>
                <a:latin typeface="Poppins"/>
              </a:rPr>
              <a:t>Build Pipeline Steps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2133600" y="6413500"/>
            <a:ext cx="13220700" cy="330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100" b="1">
                <a:solidFill>
                  <a:srgbClr val="3154D4"/>
                </a:solidFill>
                <a:latin typeface="Poppins"/>
              </a:rPr>
              <a:t>Error Handling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1625600" y="1816100"/>
            <a:ext cx="137287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30303"/>
                </a:solidFill>
                <a:latin typeface="Poppins"/>
              </a:rPr>
              <a:t>Auto CI/CD: Extract → Ingest → Sqoop → Silver → Gold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1625600" y="2235200"/>
            <a:ext cx="137287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30303"/>
                </a:solidFill>
                <a:latin typeface="Poppins"/>
              </a:rPr>
              <a:t>Scheduled: Jobs + cron triggers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1625600" y="2667000"/>
            <a:ext cx="137287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 dirty="0">
                <a:solidFill>
                  <a:srgbClr val="030303"/>
                </a:solidFill>
                <a:latin typeface="Poppins"/>
              </a:rPr>
              <a:t>Version Control: GitHub integration</a:t>
            </a:r>
            <a:endParaRPr lang="en-US" sz="1100" dirty="0"/>
          </a:p>
        </p:txBody>
      </p:sp>
      <p:sp>
        <p:nvSpPr>
          <p:cNvPr id="21" name="TextBox 21"/>
          <p:cNvSpPr txBox="1"/>
          <p:nvPr/>
        </p:nvSpPr>
        <p:spPr>
          <a:xfrm>
            <a:off x="2006600" y="3924300"/>
            <a:ext cx="133477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30303"/>
                </a:solidFill>
                <a:latin typeface="Poppins"/>
              </a:rPr>
              <a:t>rawdataextraction.py → TfL API → CSV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2006600" y="4356100"/>
            <a:ext cx="133477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30303"/>
                </a:solidFill>
                <a:latin typeface="Poppins"/>
              </a:rPr>
              <a:t>dataintegration.py → Postgres → Validate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2006600" y="4775200"/>
            <a:ext cx="133477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30303"/>
                </a:solidFill>
                <a:latin typeface="Poppins"/>
              </a:rPr>
              <a:t>Sqoop → Bronze Layer (HDFS)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2006600" y="5207000"/>
            <a:ext cx="133477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30303"/>
                </a:solidFill>
                <a:latin typeface="Poppins"/>
              </a:rPr>
              <a:t>Spark/Hive → Silver transformations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2006600" y="5626100"/>
            <a:ext cx="133477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30303"/>
                </a:solidFill>
                <a:latin typeface="Poppins"/>
              </a:rPr>
              <a:t>Gold Star Schema → Impala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2387600" y="6883400"/>
            <a:ext cx="129794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30303"/>
                </a:solidFill>
                <a:latin typeface="Poppins"/>
              </a:rPr>
              <a:t>Data validation at each step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2387600" y="7315200"/>
            <a:ext cx="129794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30303"/>
                </a:solidFill>
                <a:latin typeface="Poppins"/>
              </a:rPr>
              <a:t>Auto-failure notifications</a:t>
            </a:r>
            <a:endParaRPr lang="en-US" sz="1100"/>
          </a:p>
        </p:txBody>
      </p:sp>
      <p:sp>
        <p:nvSpPr>
          <p:cNvPr id="28" name="TextBox 28"/>
          <p:cNvSpPr txBox="1"/>
          <p:nvPr/>
        </p:nvSpPr>
        <p:spPr>
          <a:xfrm>
            <a:off x="2387600" y="7734300"/>
            <a:ext cx="129794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30303"/>
                </a:solidFill>
                <a:latin typeface="Poppins"/>
              </a:rPr>
              <a:t>Partition repair: MSCK REPAIR TABLE</a:t>
            </a:r>
            <a:endParaRPr lang="en-US" sz="1100"/>
          </a:p>
        </p:txBody>
      </p:sp>
      <p:sp>
        <p:nvSpPr>
          <p:cNvPr id="29" name="TextBox 29"/>
          <p:cNvSpPr txBox="1"/>
          <p:nvPr/>
        </p:nvSpPr>
        <p:spPr>
          <a:xfrm>
            <a:off x="2387600" y="8166100"/>
            <a:ext cx="129794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30303"/>
                </a:solidFill>
                <a:latin typeface="Poppins"/>
              </a:rPr>
              <a:t>Graceful recovery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1257300" y="1866900"/>
            <a:ext cx="241300" cy="177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4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1" name="TextBox 31"/>
          <p:cNvSpPr txBox="1"/>
          <p:nvPr/>
        </p:nvSpPr>
        <p:spPr>
          <a:xfrm>
            <a:off x="1257300" y="2286000"/>
            <a:ext cx="241300" cy="177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4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2" name="TextBox 32"/>
          <p:cNvSpPr txBox="1"/>
          <p:nvPr/>
        </p:nvSpPr>
        <p:spPr>
          <a:xfrm>
            <a:off x="1257300" y="2705100"/>
            <a:ext cx="241300" cy="177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4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3" name="TextBox 33"/>
          <p:cNvSpPr txBox="1"/>
          <p:nvPr/>
        </p:nvSpPr>
        <p:spPr>
          <a:xfrm>
            <a:off x="1625600" y="3975100"/>
            <a:ext cx="241300" cy="177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4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4" name="TextBox 34"/>
          <p:cNvSpPr txBox="1"/>
          <p:nvPr/>
        </p:nvSpPr>
        <p:spPr>
          <a:xfrm>
            <a:off x="1625600" y="4394200"/>
            <a:ext cx="241300" cy="177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4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5" name="TextBox 35"/>
          <p:cNvSpPr txBox="1"/>
          <p:nvPr/>
        </p:nvSpPr>
        <p:spPr>
          <a:xfrm>
            <a:off x="1625600" y="4826000"/>
            <a:ext cx="241300" cy="177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4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6" name="TextBox 36"/>
          <p:cNvSpPr txBox="1"/>
          <p:nvPr/>
        </p:nvSpPr>
        <p:spPr>
          <a:xfrm>
            <a:off x="1625600" y="5245100"/>
            <a:ext cx="241300" cy="177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4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7" name="TextBox 37"/>
          <p:cNvSpPr txBox="1"/>
          <p:nvPr/>
        </p:nvSpPr>
        <p:spPr>
          <a:xfrm>
            <a:off x="1625600" y="5676900"/>
            <a:ext cx="241300" cy="177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4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8" name="TextBox 38"/>
          <p:cNvSpPr txBox="1"/>
          <p:nvPr/>
        </p:nvSpPr>
        <p:spPr>
          <a:xfrm>
            <a:off x="2006600" y="6934200"/>
            <a:ext cx="241300" cy="177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4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9" name="TextBox 39"/>
          <p:cNvSpPr txBox="1"/>
          <p:nvPr/>
        </p:nvSpPr>
        <p:spPr>
          <a:xfrm>
            <a:off x="2006600" y="7353300"/>
            <a:ext cx="241300" cy="177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4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0" name="TextBox 40"/>
          <p:cNvSpPr txBox="1"/>
          <p:nvPr/>
        </p:nvSpPr>
        <p:spPr>
          <a:xfrm>
            <a:off x="2006600" y="7785100"/>
            <a:ext cx="241300" cy="177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4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1" name="TextBox 41"/>
          <p:cNvSpPr txBox="1"/>
          <p:nvPr/>
        </p:nvSpPr>
        <p:spPr>
          <a:xfrm>
            <a:off x="2006600" y="8204200"/>
            <a:ext cx="241300" cy="177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4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5A0CAABD-9650-2831-0DB1-37D5460872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0369" y="1641136"/>
            <a:ext cx="9373908" cy="1619476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1745450-4BCA-2335-AC91-1B74E9CEDD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2346" y="3609636"/>
            <a:ext cx="9009954" cy="4823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GB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2032000"/>
            <a:ext cx="14490700" cy="1181100"/>
          </a:xfrm>
          <a:prstGeom prst="roundRect">
            <a:avLst>
              <a:gd name="adj" fmla="val 6451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5" name="AutoShape 5"/>
          <p:cNvSpPr/>
          <p:nvPr/>
        </p:nvSpPr>
        <p:spPr>
          <a:xfrm>
            <a:off x="876300" y="2032000"/>
            <a:ext cx="3378200" cy="1181100"/>
          </a:xfrm>
          <a:prstGeom prst="roundRect">
            <a:avLst>
              <a:gd name="adj" fmla="val 6451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AutoShape 6"/>
          <p:cNvSpPr/>
          <p:nvPr/>
        </p:nvSpPr>
        <p:spPr>
          <a:xfrm>
            <a:off x="4572000" y="2032000"/>
            <a:ext cx="3378200" cy="1181100"/>
          </a:xfrm>
          <a:prstGeom prst="roundRect">
            <a:avLst>
              <a:gd name="adj" fmla="val 6451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7" name="AutoShape 7"/>
          <p:cNvSpPr/>
          <p:nvPr/>
        </p:nvSpPr>
        <p:spPr>
          <a:xfrm>
            <a:off x="8280400" y="2032000"/>
            <a:ext cx="3378200" cy="1181100"/>
          </a:xfrm>
          <a:prstGeom prst="roundRect">
            <a:avLst>
              <a:gd name="adj" fmla="val 6451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AutoShape 8"/>
          <p:cNvSpPr/>
          <p:nvPr/>
        </p:nvSpPr>
        <p:spPr>
          <a:xfrm>
            <a:off x="11976100" y="2032000"/>
            <a:ext cx="3378200" cy="1181100"/>
          </a:xfrm>
          <a:prstGeom prst="roundRect">
            <a:avLst>
              <a:gd name="adj" fmla="val 6451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AutoShape 9"/>
          <p:cNvSpPr/>
          <p:nvPr/>
        </p:nvSpPr>
        <p:spPr>
          <a:xfrm>
            <a:off x="876300" y="3390900"/>
            <a:ext cx="14490700" cy="4584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AutoShape 10"/>
          <p:cNvSpPr/>
          <p:nvPr/>
        </p:nvSpPr>
        <p:spPr>
          <a:xfrm>
            <a:off x="876300" y="3390900"/>
            <a:ext cx="4660900" cy="4584700"/>
          </a:xfrm>
          <a:prstGeom prst="rect">
            <a:avLst/>
          </a:prstGeom>
          <a:solidFill>
            <a:srgbClr val="AAB4DC">
              <a:alpha val="47843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AutoShape 11"/>
          <p:cNvSpPr/>
          <p:nvPr/>
        </p:nvSpPr>
        <p:spPr>
          <a:xfrm>
            <a:off x="5791200" y="3390900"/>
            <a:ext cx="4660900" cy="4584700"/>
          </a:xfrm>
          <a:prstGeom prst="rect">
            <a:avLst/>
          </a:prstGeom>
          <a:solidFill>
            <a:srgbClr val="AAB4DC">
              <a:alpha val="47843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AutoShape 12"/>
          <p:cNvSpPr/>
          <p:nvPr/>
        </p:nvSpPr>
        <p:spPr>
          <a:xfrm>
            <a:off x="10706100" y="3390900"/>
            <a:ext cx="4660900" cy="4584700"/>
          </a:xfrm>
          <a:prstGeom prst="rect">
            <a:avLst/>
          </a:prstGeom>
          <a:solidFill>
            <a:srgbClr val="AAB4DC">
              <a:alpha val="47843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TextBox 13"/>
          <p:cNvSpPr txBox="1"/>
          <p:nvPr/>
        </p:nvSpPr>
        <p:spPr>
          <a:xfrm>
            <a:off x="876300" y="11430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3154D4"/>
                </a:solidFill>
                <a:latin typeface="Poppins"/>
              </a:rPr>
              <a:t>Batch Pipeline Integrations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876300" y="2844800"/>
            <a:ext cx="33782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400" b="1">
                <a:solidFill>
                  <a:srgbClr val="3154D4"/>
                </a:solidFill>
                <a:latin typeface="Poppins"/>
              </a:rPr>
              <a:t>Data Sources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4572000" y="2844800"/>
            <a:ext cx="33782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400" b="1">
                <a:solidFill>
                  <a:srgbClr val="3154D4"/>
                </a:solidFill>
                <a:latin typeface="Poppins"/>
              </a:rPr>
              <a:t>Medallion Layers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8280400" y="2844800"/>
            <a:ext cx="33782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400" b="1">
                <a:solidFill>
                  <a:srgbClr val="3154D4"/>
                </a:solidFill>
                <a:latin typeface="Poppins"/>
              </a:rPr>
              <a:t>Transformations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1976100" y="2844800"/>
            <a:ext cx="33782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400" b="1">
                <a:solidFill>
                  <a:srgbClr val="3154D4"/>
                </a:solidFill>
                <a:latin typeface="Poppins"/>
              </a:rPr>
              <a:t>Outputs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1130300" y="3644900"/>
            <a:ext cx="41529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3154D4"/>
                </a:solidFill>
                <a:latin typeface="Poppins"/>
              </a:rPr>
              <a:t>Source Integrations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6045200" y="3644900"/>
            <a:ext cx="41529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3154D4"/>
                </a:solidFill>
                <a:latin typeface="Poppins"/>
              </a:rPr>
              <a:t>Processing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10960100" y="3644900"/>
            <a:ext cx="41529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3154D4"/>
                </a:solidFill>
                <a:latin typeface="Poppins"/>
              </a:rPr>
              <a:t>Outputs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876300" y="2057400"/>
            <a:ext cx="3543300" cy="749300"/>
          </a:xfrm>
          <a:prstGeom prst="roundRect">
            <a:avLst>
              <a:gd name="adj" fmla="val 11864"/>
            </a:avLst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3900" b="1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latin typeface="Poppins"/>
              </a:rPr>
              <a:t>6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4572000" y="2057400"/>
            <a:ext cx="3556000" cy="749300"/>
          </a:xfrm>
          <a:prstGeom prst="roundRect">
            <a:avLst>
              <a:gd name="adj" fmla="val 11864"/>
            </a:avLst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3900" b="1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latin typeface="Poppins"/>
              </a:rPr>
              <a:t>3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8280400" y="2057400"/>
            <a:ext cx="3543300" cy="749300"/>
          </a:xfrm>
          <a:prstGeom prst="roundRect">
            <a:avLst>
              <a:gd name="adj" fmla="val 11864"/>
            </a:avLst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3900" b="1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latin typeface="Poppins"/>
              </a:rPr>
              <a:t>10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11976100" y="2057400"/>
            <a:ext cx="3556000" cy="749300"/>
          </a:xfrm>
          <a:prstGeom prst="roundRect">
            <a:avLst>
              <a:gd name="adj" fmla="val 11864"/>
            </a:avLst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3900" b="1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latin typeface="Poppins"/>
              </a:rPr>
              <a:t>2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1384300" y="4292600"/>
            <a:ext cx="3898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TfL API: 6 lines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1384300" y="4864100"/>
            <a:ext cx="38989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Scripts: rawdataextraction.py, dataintegration.py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1384300" y="5829300"/>
            <a:ext cx="3898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Landing: PostgreSQL</a:t>
            </a:r>
            <a:endParaRPr lang="en-US" sz="1100"/>
          </a:p>
        </p:txBody>
      </p:sp>
      <p:sp>
        <p:nvSpPr>
          <p:cNvPr id="28" name="TextBox 28"/>
          <p:cNvSpPr txBox="1"/>
          <p:nvPr/>
        </p:nvSpPr>
        <p:spPr>
          <a:xfrm>
            <a:off x="1384300" y="6400800"/>
            <a:ext cx="3898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Transfer: Sqoop</a:t>
            </a:r>
            <a:endParaRPr lang="en-US" sz="1100"/>
          </a:p>
        </p:txBody>
      </p:sp>
      <p:sp>
        <p:nvSpPr>
          <p:cNvPr id="29" name="TextBox 29"/>
          <p:cNvSpPr txBox="1"/>
          <p:nvPr/>
        </p:nvSpPr>
        <p:spPr>
          <a:xfrm>
            <a:off x="1384300" y="6985000"/>
            <a:ext cx="38989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Exploration: Hive external tables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6299200" y="4292600"/>
            <a:ext cx="38989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Transform: Spark (types, duplicates)</a:t>
            </a:r>
            <a:endParaRPr lang="en-US" sz="1100"/>
          </a:p>
        </p:txBody>
      </p:sp>
      <p:sp>
        <p:nvSpPr>
          <p:cNvPr id="31" name="TextBox 31"/>
          <p:cNvSpPr txBox="1"/>
          <p:nvPr/>
        </p:nvSpPr>
        <p:spPr>
          <a:xfrm>
            <a:off x="6299200" y="5245100"/>
            <a:ext cx="3898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Model: HiveQL schemas</a:t>
            </a:r>
            <a:endParaRPr lang="en-US" sz="1100"/>
          </a:p>
        </p:txBody>
      </p:sp>
      <p:sp>
        <p:nvSpPr>
          <p:cNvPr id="32" name="TextBox 32"/>
          <p:cNvSpPr txBox="1"/>
          <p:nvPr/>
        </p:nvSpPr>
        <p:spPr>
          <a:xfrm>
            <a:off x="6299200" y="5829300"/>
            <a:ext cx="3898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Format: Partitioned Parquet</a:t>
            </a:r>
            <a:endParaRPr lang="en-US" sz="1100"/>
          </a:p>
        </p:txBody>
      </p:sp>
      <p:sp>
        <p:nvSpPr>
          <p:cNvPr id="33" name="TextBox 33"/>
          <p:cNvSpPr txBox="1"/>
          <p:nvPr/>
        </p:nvSpPr>
        <p:spPr>
          <a:xfrm>
            <a:off x="6299200" y="6400800"/>
            <a:ext cx="38989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Enrich: Metadata, classification</a:t>
            </a:r>
            <a:endParaRPr lang="en-US" sz="1100"/>
          </a:p>
        </p:txBody>
      </p:sp>
      <p:sp>
        <p:nvSpPr>
          <p:cNvPr id="34" name="TextBox 34"/>
          <p:cNvSpPr txBox="1"/>
          <p:nvPr/>
        </p:nvSpPr>
        <p:spPr>
          <a:xfrm>
            <a:off x="11214100" y="4292600"/>
            <a:ext cx="3898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Query: Impala</a:t>
            </a:r>
            <a:endParaRPr lang="en-US" sz="1100"/>
          </a:p>
        </p:txBody>
      </p:sp>
      <p:sp>
        <p:nvSpPr>
          <p:cNvPr id="35" name="TextBox 35"/>
          <p:cNvSpPr txBox="1"/>
          <p:nvPr/>
        </p:nvSpPr>
        <p:spPr>
          <a:xfrm>
            <a:off x="11214100" y="4864100"/>
            <a:ext cx="3898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Dashboard: PowerBI</a:t>
            </a:r>
            <a:endParaRPr lang="en-US" sz="1100"/>
          </a:p>
        </p:txBody>
      </p:sp>
      <p:sp>
        <p:nvSpPr>
          <p:cNvPr id="36" name="TextBox 36"/>
          <p:cNvSpPr txBox="1"/>
          <p:nvPr/>
        </p:nvSpPr>
        <p:spPr>
          <a:xfrm>
            <a:off x="11214100" y="5448300"/>
            <a:ext cx="38989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Analysis: Delay trends, peaks, disruptions</a:t>
            </a:r>
            <a:endParaRPr lang="en-US" sz="1100"/>
          </a:p>
        </p:txBody>
      </p:sp>
      <p:sp>
        <p:nvSpPr>
          <p:cNvPr id="37" name="TextBox 37"/>
          <p:cNvSpPr txBox="1"/>
          <p:nvPr/>
        </p:nvSpPr>
        <p:spPr>
          <a:xfrm>
            <a:off x="11214100" y="6400800"/>
            <a:ext cx="3898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Monitoring: Alerts</a:t>
            </a:r>
            <a:endParaRPr lang="en-US" sz="1100"/>
          </a:p>
        </p:txBody>
      </p:sp>
      <p:sp>
        <p:nvSpPr>
          <p:cNvPr id="38" name="TextBox 38"/>
          <p:cNvSpPr txBox="1"/>
          <p:nvPr/>
        </p:nvSpPr>
        <p:spPr>
          <a:xfrm>
            <a:off x="1003300" y="43561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9" name="TextBox 39"/>
          <p:cNvSpPr txBox="1"/>
          <p:nvPr/>
        </p:nvSpPr>
        <p:spPr>
          <a:xfrm>
            <a:off x="1003300" y="49276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0" name="TextBox 40"/>
          <p:cNvSpPr txBox="1"/>
          <p:nvPr/>
        </p:nvSpPr>
        <p:spPr>
          <a:xfrm>
            <a:off x="1003300" y="58928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1" name="TextBox 41"/>
          <p:cNvSpPr txBox="1"/>
          <p:nvPr/>
        </p:nvSpPr>
        <p:spPr>
          <a:xfrm>
            <a:off x="1003300" y="64643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2" name="TextBox 42"/>
          <p:cNvSpPr txBox="1"/>
          <p:nvPr/>
        </p:nvSpPr>
        <p:spPr>
          <a:xfrm>
            <a:off x="1003300" y="70485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3" name="TextBox 43"/>
          <p:cNvSpPr txBox="1"/>
          <p:nvPr/>
        </p:nvSpPr>
        <p:spPr>
          <a:xfrm>
            <a:off x="5918200" y="43561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4" name="TextBox 44"/>
          <p:cNvSpPr txBox="1"/>
          <p:nvPr/>
        </p:nvSpPr>
        <p:spPr>
          <a:xfrm>
            <a:off x="5918200" y="53086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5" name="TextBox 45"/>
          <p:cNvSpPr txBox="1"/>
          <p:nvPr/>
        </p:nvSpPr>
        <p:spPr>
          <a:xfrm>
            <a:off x="5918200" y="58928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6" name="TextBox 46"/>
          <p:cNvSpPr txBox="1"/>
          <p:nvPr/>
        </p:nvSpPr>
        <p:spPr>
          <a:xfrm>
            <a:off x="5918200" y="64643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7" name="TextBox 47"/>
          <p:cNvSpPr txBox="1"/>
          <p:nvPr/>
        </p:nvSpPr>
        <p:spPr>
          <a:xfrm>
            <a:off x="10833100" y="43561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8" name="TextBox 48"/>
          <p:cNvSpPr txBox="1"/>
          <p:nvPr/>
        </p:nvSpPr>
        <p:spPr>
          <a:xfrm>
            <a:off x="10833100" y="49276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9" name="TextBox 49"/>
          <p:cNvSpPr txBox="1"/>
          <p:nvPr/>
        </p:nvSpPr>
        <p:spPr>
          <a:xfrm>
            <a:off x="10833100" y="55118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50" name="TextBox 50"/>
          <p:cNvSpPr txBox="1"/>
          <p:nvPr/>
        </p:nvSpPr>
        <p:spPr>
          <a:xfrm>
            <a:off x="10833100" y="64643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GB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1104900"/>
            <a:ext cx="14490700" cy="6045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5" name="AutoShape 5"/>
          <p:cNvSpPr/>
          <p:nvPr/>
        </p:nvSpPr>
        <p:spPr>
          <a:xfrm>
            <a:off x="876300" y="1104900"/>
            <a:ext cx="14490700" cy="1435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AutoShape 6"/>
          <p:cNvSpPr/>
          <p:nvPr/>
        </p:nvSpPr>
        <p:spPr>
          <a:xfrm>
            <a:off x="876300" y="1104900"/>
            <a:ext cx="1257300" cy="1435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7" name="AutoShape 7"/>
          <p:cNvSpPr/>
          <p:nvPr/>
        </p:nvSpPr>
        <p:spPr>
          <a:xfrm>
            <a:off x="876300" y="2552700"/>
            <a:ext cx="14490700" cy="1435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AutoShape 8"/>
          <p:cNvSpPr/>
          <p:nvPr/>
        </p:nvSpPr>
        <p:spPr>
          <a:xfrm>
            <a:off x="876300" y="2552700"/>
            <a:ext cx="1257300" cy="1435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AutoShape 9"/>
          <p:cNvSpPr/>
          <p:nvPr/>
        </p:nvSpPr>
        <p:spPr>
          <a:xfrm>
            <a:off x="876300" y="3987800"/>
            <a:ext cx="14490700" cy="1435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AutoShape 10"/>
          <p:cNvSpPr/>
          <p:nvPr/>
        </p:nvSpPr>
        <p:spPr>
          <a:xfrm>
            <a:off x="876300" y="3987800"/>
            <a:ext cx="1257300" cy="1435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AutoShape 11"/>
          <p:cNvSpPr/>
          <p:nvPr/>
        </p:nvSpPr>
        <p:spPr>
          <a:xfrm>
            <a:off x="876300" y="5435600"/>
            <a:ext cx="14490700" cy="1701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AutoShape 12"/>
          <p:cNvSpPr/>
          <p:nvPr/>
        </p:nvSpPr>
        <p:spPr>
          <a:xfrm>
            <a:off x="876300" y="5435600"/>
            <a:ext cx="1257300" cy="1701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AutoShape 13"/>
          <p:cNvSpPr/>
          <p:nvPr/>
        </p:nvSpPr>
        <p:spPr>
          <a:xfrm>
            <a:off x="876300" y="7277100"/>
            <a:ext cx="14490700" cy="1371600"/>
          </a:xfrm>
          <a:prstGeom prst="roundRect">
            <a:avLst>
              <a:gd name="adj" fmla="val 3703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AutoShape 14"/>
          <p:cNvSpPr/>
          <p:nvPr/>
        </p:nvSpPr>
        <p:spPr>
          <a:xfrm>
            <a:off x="876300" y="7277100"/>
            <a:ext cx="14490700" cy="1371600"/>
          </a:xfrm>
          <a:prstGeom prst="roundRect">
            <a:avLst>
              <a:gd name="adj" fmla="val 3703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1104900"/>
            <a:ext cx="850900" cy="1435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552700"/>
            <a:ext cx="850900" cy="14351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3987800"/>
            <a:ext cx="850900" cy="1435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5435600"/>
            <a:ext cx="863600" cy="17018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876300" y="482600"/>
            <a:ext cx="144907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700" b="1">
                <a:solidFill>
                  <a:srgbClr val="3154D4"/>
                </a:solidFill>
                <a:latin typeface="Poppins"/>
              </a:rPr>
              <a:t>Challenges &amp; Solutions (Batch Processing)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2514600" y="1282700"/>
            <a:ext cx="128524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3154D4"/>
                </a:solidFill>
                <a:latin typeface="Poppins"/>
              </a:rPr>
              <a:t>Duplicate Records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2514600" y="2717800"/>
            <a:ext cx="128524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3154D4"/>
                </a:solidFill>
                <a:latin typeface="Poppins"/>
              </a:rPr>
              <a:t>NULL event_time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2514600" y="4165600"/>
            <a:ext cx="128524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3154D4"/>
                </a:solidFill>
                <a:latin typeface="Poppins"/>
              </a:rPr>
              <a:t>Hive Partition Detection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2514600" y="5613400"/>
            <a:ext cx="128524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3154D4"/>
                </a:solidFill>
                <a:latin typeface="Poppins"/>
              </a:rPr>
              <a:t>Schema Mismatch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2514600" y="1714500"/>
            <a:ext cx="128524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30303"/>
                </a:solidFill>
                <a:ea typeface="Poppins"/>
              </a:rPr>
              <a:t>✓ Solution: Composite unique key (id + stationname + event_time) + dropDuplicates()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2514600" y="2108200"/>
            <a:ext cx="128524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30303"/>
                </a:solidFill>
                <a:latin typeface="Poppins"/>
              </a:rPr>
              <a:t>Impact: Critical resolution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2514600" y="3162300"/>
            <a:ext cx="128524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30303"/>
                </a:solidFill>
                <a:ea typeface="Poppins"/>
              </a:rPr>
              <a:t>✓ Solution: Conditional timestamp parsing (Spark) + standardization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2514600" y="3556000"/>
            <a:ext cx="128524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30303"/>
                </a:solidFill>
                <a:latin typeface="Poppins"/>
              </a:rPr>
              <a:t>Impact: Data quality fix</a:t>
            </a:r>
            <a:endParaRPr lang="en-US" sz="1100"/>
          </a:p>
        </p:txBody>
      </p:sp>
      <p:sp>
        <p:nvSpPr>
          <p:cNvPr id="28" name="TextBox 28"/>
          <p:cNvSpPr txBox="1"/>
          <p:nvPr/>
        </p:nvSpPr>
        <p:spPr>
          <a:xfrm>
            <a:off x="2514600" y="4610100"/>
            <a:ext cx="128524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30303"/>
                </a:solidFill>
                <a:ea typeface="Poppins"/>
              </a:rPr>
              <a:t>✓ Solution: MSCK REPAIR TABLE command</a:t>
            </a:r>
            <a:endParaRPr lang="en-US" sz="1100"/>
          </a:p>
        </p:txBody>
      </p:sp>
      <p:sp>
        <p:nvSpPr>
          <p:cNvPr id="29" name="TextBox 29"/>
          <p:cNvSpPr txBox="1"/>
          <p:nvPr/>
        </p:nvSpPr>
        <p:spPr>
          <a:xfrm>
            <a:off x="2514600" y="5003800"/>
            <a:ext cx="128524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30303"/>
                </a:solidFill>
                <a:latin typeface="Poppins"/>
              </a:rPr>
              <a:t>Impact: System reliability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2514600" y="6057900"/>
            <a:ext cx="12852400" cy="520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30303"/>
                </a:solidFill>
                <a:ea typeface="Poppins"/>
              </a:rPr>
              <a:t>✓ Solution: Changed schema in Silver transformations and created external table in Hive with matching schema which loads data to PowerBI</a:t>
            </a:r>
            <a:endParaRPr lang="en-US" sz="1100"/>
          </a:p>
        </p:txBody>
      </p:sp>
      <p:sp>
        <p:nvSpPr>
          <p:cNvPr id="31" name="TextBox 31"/>
          <p:cNvSpPr txBox="1"/>
          <p:nvPr/>
        </p:nvSpPr>
        <p:spPr>
          <a:xfrm>
            <a:off x="2514600" y="6705600"/>
            <a:ext cx="128524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030303"/>
                </a:solidFill>
                <a:latin typeface="Poppins"/>
              </a:rPr>
              <a:t>Impact: PowerBI compatibility resolved</a:t>
            </a:r>
            <a:endParaRPr lang="en-US" sz="1100"/>
          </a:p>
        </p:txBody>
      </p:sp>
      <p:sp>
        <p:nvSpPr>
          <p:cNvPr id="32" name="TextBox 32"/>
          <p:cNvSpPr txBox="1"/>
          <p:nvPr/>
        </p:nvSpPr>
        <p:spPr>
          <a:xfrm>
            <a:off x="876300" y="7302500"/>
            <a:ext cx="15214600" cy="1041400"/>
          </a:xfrm>
          <a:prstGeom prst="roundRect">
            <a:avLst>
              <a:gd name="adj" fmla="val 6097"/>
            </a:avLst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00000"/>
              </a:lnSpc>
              <a:defRPr/>
            </a:pPr>
            <a:r>
              <a:rPr lang="en-US" sz="5400" b="1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latin typeface="Poppins"/>
              </a:rPr>
              <a:t>4</a:t>
            </a:r>
            <a:endParaRPr lang="en-US" sz="1100"/>
          </a:p>
        </p:txBody>
      </p:sp>
      <p:sp>
        <p:nvSpPr>
          <p:cNvPr id="33" name="TextBox 33"/>
          <p:cNvSpPr txBox="1"/>
          <p:nvPr/>
        </p:nvSpPr>
        <p:spPr>
          <a:xfrm>
            <a:off x="876300" y="8382000"/>
            <a:ext cx="14490700" cy="25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300" b="1">
                <a:solidFill>
                  <a:srgbClr val="030303"/>
                </a:solidFill>
                <a:latin typeface="Poppins"/>
              </a:rPr>
              <a:t>Major Issues Resolved</a:t>
            </a:r>
            <a:endParaRPr lang="en-US" sz="1100"/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5"/>
          <a:srcRect t="16000" b="16000"/>
          <a:stretch>
            <a:fillRect/>
          </a:stretch>
        </p:blipFill>
        <p:spPr>
          <a:xfrm>
            <a:off x="1384300" y="1739900"/>
            <a:ext cx="241300" cy="1651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6"/>
          <a:srcRect t="16000" b="16000"/>
          <a:stretch>
            <a:fillRect/>
          </a:stretch>
        </p:blipFill>
        <p:spPr>
          <a:xfrm>
            <a:off x="1384300" y="3187700"/>
            <a:ext cx="241300" cy="1651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7"/>
          <a:srcRect t="12000" b="12000"/>
          <a:stretch>
            <a:fillRect/>
          </a:stretch>
        </p:blipFill>
        <p:spPr>
          <a:xfrm>
            <a:off x="1397000" y="4622800"/>
            <a:ext cx="215900" cy="1651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5"/>
          <a:srcRect t="16000" b="16000"/>
          <a:stretch>
            <a:fillRect/>
          </a:stretch>
        </p:blipFill>
        <p:spPr>
          <a:xfrm>
            <a:off x="1384300" y="6210300"/>
            <a:ext cx="241300" cy="1651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GB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1600200"/>
            <a:ext cx="14490700" cy="6807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5" name="AutoShape 5"/>
          <p:cNvSpPr/>
          <p:nvPr/>
        </p:nvSpPr>
        <p:spPr>
          <a:xfrm>
            <a:off x="876300" y="1600200"/>
            <a:ext cx="4660900" cy="6807200"/>
          </a:xfrm>
          <a:prstGeom prst="rect">
            <a:avLst/>
          </a:prstGeom>
          <a:solidFill>
            <a:srgbClr val="AAB4DC">
              <a:alpha val="47843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AutoShape 6"/>
          <p:cNvSpPr/>
          <p:nvPr/>
        </p:nvSpPr>
        <p:spPr>
          <a:xfrm>
            <a:off x="1130300" y="18542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5171C2"/>
          </a:solidFill>
        </p:spPr>
        <p:txBody>
          <a:bodyPr/>
          <a:lstStyle/>
          <a:p>
            <a:endParaRPr lang="en-GB"/>
          </a:p>
        </p:txBody>
      </p:sp>
      <p:sp>
        <p:nvSpPr>
          <p:cNvPr id="7" name="AutoShape 7"/>
          <p:cNvSpPr/>
          <p:nvPr/>
        </p:nvSpPr>
        <p:spPr>
          <a:xfrm>
            <a:off x="5791200" y="1600200"/>
            <a:ext cx="4660900" cy="6807200"/>
          </a:xfrm>
          <a:prstGeom prst="rect">
            <a:avLst/>
          </a:prstGeom>
          <a:solidFill>
            <a:srgbClr val="AAB4DC">
              <a:alpha val="47843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AutoShape 8"/>
          <p:cNvSpPr/>
          <p:nvPr/>
        </p:nvSpPr>
        <p:spPr>
          <a:xfrm>
            <a:off x="6045200" y="18542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5171C2"/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AutoShape 9"/>
          <p:cNvSpPr/>
          <p:nvPr/>
        </p:nvSpPr>
        <p:spPr>
          <a:xfrm>
            <a:off x="10706100" y="1600200"/>
            <a:ext cx="4660900" cy="6807200"/>
          </a:xfrm>
          <a:prstGeom prst="rect">
            <a:avLst/>
          </a:prstGeom>
          <a:solidFill>
            <a:srgbClr val="AAB4DC">
              <a:alpha val="47843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AutoShape 10"/>
          <p:cNvSpPr/>
          <p:nvPr/>
        </p:nvSpPr>
        <p:spPr>
          <a:xfrm>
            <a:off x="10960100" y="18542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5171C2"/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TextBox 11"/>
          <p:cNvSpPr txBox="1"/>
          <p:nvPr/>
        </p:nvSpPr>
        <p:spPr>
          <a:xfrm>
            <a:off x="876300" y="7112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3154D4"/>
                </a:solidFill>
                <a:latin typeface="Poppins"/>
              </a:rPr>
              <a:t>Key Learnings: Batch Processing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1130300" y="2857500"/>
            <a:ext cx="41529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3154D4"/>
                </a:solidFill>
                <a:latin typeface="Poppins"/>
              </a:rPr>
              <a:t>Critical Success Factors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6045200" y="2857500"/>
            <a:ext cx="41529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3154D4"/>
                </a:solidFill>
                <a:latin typeface="Poppins"/>
              </a:rPr>
              <a:t>Temporal Data Management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10960100" y="2857500"/>
            <a:ext cx="41529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3154D4"/>
                </a:solidFill>
                <a:latin typeface="Poppins"/>
              </a:rPr>
              <a:t>Data Architecture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1384300" y="3962400"/>
            <a:ext cx="38989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Schema alignment across all lines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1384300" y="4914900"/>
            <a:ext cx="38989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Timestamp standardization essential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384300" y="5867400"/>
            <a:ext cx="38989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Duplicate detection: composite keys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1384300" y="6832600"/>
            <a:ext cx="3898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Partition management critical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1384300" y="7404100"/>
            <a:ext cx="38989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Validation at each layer prevents cascading failures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6299200" y="3962400"/>
            <a:ext cx="38989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Composite unique keys → accurate dedup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6299200" y="4914900"/>
            <a:ext cx="38989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Conditional parsing → mixed format handling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6299200" y="5867400"/>
            <a:ext cx="38989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Standardized event_time → analytics-ready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11214100" y="3505200"/>
            <a:ext cx="38989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Schema alignment → unified datasets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11214100" y="4457700"/>
            <a:ext cx="38989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Partitioned Parquet → efficiency &amp; performance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11214100" y="5422900"/>
            <a:ext cx="38989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Hive partition mgmt → reliability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11214100" y="6375400"/>
            <a:ext cx="38989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External tables → flexible access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1003300" y="40259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8" name="TextBox 28"/>
          <p:cNvSpPr txBox="1"/>
          <p:nvPr/>
        </p:nvSpPr>
        <p:spPr>
          <a:xfrm>
            <a:off x="1003300" y="49784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9" name="TextBox 29"/>
          <p:cNvSpPr txBox="1"/>
          <p:nvPr/>
        </p:nvSpPr>
        <p:spPr>
          <a:xfrm>
            <a:off x="1003300" y="59309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1003300" y="68961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1" name="TextBox 31"/>
          <p:cNvSpPr txBox="1"/>
          <p:nvPr/>
        </p:nvSpPr>
        <p:spPr>
          <a:xfrm>
            <a:off x="1003300" y="74676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2" name="TextBox 32"/>
          <p:cNvSpPr txBox="1"/>
          <p:nvPr/>
        </p:nvSpPr>
        <p:spPr>
          <a:xfrm>
            <a:off x="5918200" y="40259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3" name="TextBox 33"/>
          <p:cNvSpPr txBox="1"/>
          <p:nvPr/>
        </p:nvSpPr>
        <p:spPr>
          <a:xfrm>
            <a:off x="5918200" y="49784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4" name="TextBox 34"/>
          <p:cNvSpPr txBox="1"/>
          <p:nvPr/>
        </p:nvSpPr>
        <p:spPr>
          <a:xfrm>
            <a:off x="5918200" y="59309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5" name="TextBox 35"/>
          <p:cNvSpPr txBox="1"/>
          <p:nvPr/>
        </p:nvSpPr>
        <p:spPr>
          <a:xfrm>
            <a:off x="10833100" y="35687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6" name="TextBox 36"/>
          <p:cNvSpPr txBox="1"/>
          <p:nvPr/>
        </p:nvSpPr>
        <p:spPr>
          <a:xfrm>
            <a:off x="10833100" y="45212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7" name="TextBox 37"/>
          <p:cNvSpPr txBox="1"/>
          <p:nvPr/>
        </p:nvSpPr>
        <p:spPr>
          <a:xfrm>
            <a:off x="10833100" y="54864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8" name="TextBox 38"/>
          <p:cNvSpPr txBox="1"/>
          <p:nvPr/>
        </p:nvSpPr>
        <p:spPr>
          <a:xfrm>
            <a:off x="10833100" y="64389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pic>
        <p:nvPicPr>
          <p:cNvPr id="39" name="Picture 3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384300" y="2108200"/>
            <a:ext cx="241300" cy="2413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299200" y="2108200"/>
            <a:ext cx="241300" cy="2413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5"/>
          <a:srcRect l="6000" r="6000"/>
          <a:stretch>
            <a:fillRect/>
          </a:stretch>
        </p:blipFill>
        <p:spPr>
          <a:xfrm>
            <a:off x="11226800" y="2108200"/>
            <a:ext cx="215900" cy="241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GB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2273300"/>
            <a:ext cx="14490700" cy="5473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5" name="AutoShape 5"/>
          <p:cNvSpPr/>
          <p:nvPr/>
        </p:nvSpPr>
        <p:spPr>
          <a:xfrm>
            <a:off x="876300" y="2273300"/>
            <a:ext cx="4660900" cy="5473700"/>
          </a:xfrm>
          <a:prstGeom prst="rect">
            <a:avLst/>
          </a:prstGeom>
          <a:solidFill>
            <a:srgbClr val="AAB4DC">
              <a:alpha val="47843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AutoShape 6"/>
          <p:cNvSpPr/>
          <p:nvPr/>
        </p:nvSpPr>
        <p:spPr>
          <a:xfrm>
            <a:off x="1130300" y="25273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5171C2"/>
          </a:solidFill>
        </p:spPr>
        <p:txBody>
          <a:bodyPr/>
          <a:lstStyle/>
          <a:p>
            <a:endParaRPr lang="en-GB"/>
          </a:p>
        </p:txBody>
      </p:sp>
      <p:sp>
        <p:nvSpPr>
          <p:cNvPr id="7" name="AutoShape 7"/>
          <p:cNvSpPr/>
          <p:nvPr/>
        </p:nvSpPr>
        <p:spPr>
          <a:xfrm>
            <a:off x="5791200" y="2273300"/>
            <a:ext cx="4660900" cy="5473700"/>
          </a:xfrm>
          <a:prstGeom prst="rect">
            <a:avLst/>
          </a:prstGeom>
          <a:solidFill>
            <a:srgbClr val="AAB4DC">
              <a:alpha val="47843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AutoShape 8"/>
          <p:cNvSpPr/>
          <p:nvPr/>
        </p:nvSpPr>
        <p:spPr>
          <a:xfrm>
            <a:off x="6045200" y="25273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5171C2"/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AutoShape 9"/>
          <p:cNvSpPr/>
          <p:nvPr/>
        </p:nvSpPr>
        <p:spPr>
          <a:xfrm>
            <a:off x="10706100" y="2273300"/>
            <a:ext cx="4660900" cy="5473700"/>
          </a:xfrm>
          <a:prstGeom prst="rect">
            <a:avLst/>
          </a:prstGeom>
          <a:solidFill>
            <a:srgbClr val="AAB4DC">
              <a:alpha val="47843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AutoShape 10"/>
          <p:cNvSpPr/>
          <p:nvPr/>
        </p:nvSpPr>
        <p:spPr>
          <a:xfrm>
            <a:off x="10960100" y="25273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5171C2"/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TextBox 11"/>
          <p:cNvSpPr txBox="1"/>
          <p:nvPr/>
        </p:nvSpPr>
        <p:spPr>
          <a:xfrm>
            <a:off x="876300" y="13843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3154D4"/>
                </a:solidFill>
                <a:latin typeface="Poppins"/>
              </a:rPr>
              <a:t>Introduction to Streaming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1130300" y="3530600"/>
            <a:ext cx="41529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3154D4"/>
                </a:solidFill>
                <a:latin typeface="Poppins"/>
              </a:rPr>
              <a:t>Streaming Objectives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6045200" y="3530600"/>
            <a:ext cx="41529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3154D4"/>
                </a:solidFill>
                <a:latin typeface="Poppins"/>
              </a:rPr>
              <a:t>Core Goals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10960100" y="3530600"/>
            <a:ext cx="37973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3154D4"/>
                </a:solidFill>
                <a:latin typeface="Poppins"/>
              </a:rPr>
              <a:t>Use Cases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1384300" y="4622800"/>
            <a:ext cx="38989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Real-time ingestion &amp; processing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1384300" y="5588000"/>
            <a:ext cx="38989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Live operational monitoring (beyond batch)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384300" y="6540500"/>
            <a:ext cx="3898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Dynamic KPI calculations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1384300" y="7124700"/>
            <a:ext cx="3898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Immediate decision-making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6299200" y="4178300"/>
            <a:ext cx="38989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Extend batch infrastructure → real-time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6299200" y="5130800"/>
            <a:ext cx="38989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Immediate insights: delays, disruptions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6299200" y="6083300"/>
            <a:ext cx="38989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Alert mechanisms for critical events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6299200" y="7048500"/>
            <a:ext cx="3898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Seamless batch integration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11214100" y="4178300"/>
            <a:ext cx="35433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Live train delay notifications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11214100" y="4749800"/>
            <a:ext cx="35433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Real-time congestion alerts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11214100" y="5334000"/>
            <a:ext cx="35433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Passenger flow monitoring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11214100" y="5905500"/>
            <a:ext cx="35433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Anomaly detection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11214100" y="6489700"/>
            <a:ext cx="35433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Predictive delay modeling</a:t>
            </a:r>
            <a:endParaRPr lang="en-US" sz="1100"/>
          </a:p>
        </p:txBody>
      </p:sp>
      <p:sp>
        <p:nvSpPr>
          <p:cNvPr id="28" name="TextBox 28"/>
          <p:cNvSpPr txBox="1"/>
          <p:nvPr/>
        </p:nvSpPr>
        <p:spPr>
          <a:xfrm>
            <a:off x="1003300" y="46863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9" name="TextBox 29"/>
          <p:cNvSpPr txBox="1"/>
          <p:nvPr/>
        </p:nvSpPr>
        <p:spPr>
          <a:xfrm>
            <a:off x="1003300" y="56515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1003300" y="66040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1" name="TextBox 31"/>
          <p:cNvSpPr txBox="1"/>
          <p:nvPr/>
        </p:nvSpPr>
        <p:spPr>
          <a:xfrm>
            <a:off x="1003300" y="71755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2" name="TextBox 32"/>
          <p:cNvSpPr txBox="1"/>
          <p:nvPr/>
        </p:nvSpPr>
        <p:spPr>
          <a:xfrm>
            <a:off x="5918200" y="42418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3" name="TextBox 33"/>
          <p:cNvSpPr txBox="1"/>
          <p:nvPr/>
        </p:nvSpPr>
        <p:spPr>
          <a:xfrm>
            <a:off x="5918200" y="51943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4" name="TextBox 34"/>
          <p:cNvSpPr txBox="1"/>
          <p:nvPr/>
        </p:nvSpPr>
        <p:spPr>
          <a:xfrm>
            <a:off x="5918200" y="61468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5" name="TextBox 35"/>
          <p:cNvSpPr txBox="1"/>
          <p:nvPr/>
        </p:nvSpPr>
        <p:spPr>
          <a:xfrm>
            <a:off x="5918200" y="70993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6" name="TextBox 36"/>
          <p:cNvSpPr txBox="1"/>
          <p:nvPr/>
        </p:nvSpPr>
        <p:spPr>
          <a:xfrm>
            <a:off x="10833100" y="42418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7" name="TextBox 37"/>
          <p:cNvSpPr txBox="1"/>
          <p:nvPr/>
        </p:nvSpPr>
        <p:spPr>
          <a:xfrm>
            <a:off x="10833100" y="48133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8" name="TextBox 38"/>
          <p:cNvSpPr txBox="1"/>
          <p:nvPr/>
        </p:nvSpPr>
        <p:spPr>
          <a:xfrm>
            <a:off x="10833100" y="53975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9" name="TextBox 39"/>
          <p:cNvSpPr txBox="1"/>
          <p:nvPr/>
        </p:nvSpPr>
        <p:spPr>
          <a:xfrm>
            <a:off x="10833100" y="59690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0" name="TextBox 40"/>
          <p:cNvSpPr txBox="1"/>
          <p:nvPr/>
        </p:nvSpPr>
        <p:spPr>
          <a:xfrm>
            <a:off x="10833100" y="65532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384300" y="2768600"/>
            <a:ext cx="241300" cy="2413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299200" y="2768600"/>
            <a:ext cx="241300" cy="2413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214100" y="2768600"/>
            <a:ext cx="241300" cy="2413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GB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882650" y="533400"/>
            <a:ext cx="14490700" cy="1676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 dirty="0">
                <a:solidFill>
                  <a:srgbClr val="3154D4"/>
                </a:solidFill>
                <a:latin typeface="Poppins"/>
              </a:rPr>
              <a:t>Streaming Architecture Design</a:t>
            </a:r>
            <a:endParaRPr lang="en-US" sz="1100" dirty="0"/>
          </a:p>
        </p:txBody>
      </p:sp>
      <p:pic>
        <p:nvPicPr>
          <p:cNvPr id="5" name="Picture 4" descr="A diagram of a computer&#10;&#10;AI-generated content may be incorrect.">
            <a:extLst>
              <a:ext uri="{FF2B5EF4-FFF2-40B4-BE49-F238E27FC236}">
                <a16:creationId xmlns:a16="http://schemas.microsoft.com/office/drawing/2014/main" id="{FF79DCC5-21BB-DCB1-D29E-6084EEEB70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6800" y="2195945"/>
            <a:ext cx="11582399" cy="5924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GB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2108200"/>
            <a:ext cx="14490700" cy="5803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5" name="AutoShape 5"/>
          <p:cNvSpPr/>
          <p:nvPr/>
        </p:nvSpPr>
        <p:spPr>
          <a:xfrm>
            <a:off x="876300" y="2108200"/>
            <a:ext cx="4660900" cy="5803900"/>
          </a:xfrm>
          <a:prstGeom prst="rect">
            <a:avLst/>
          </a:prstGeom>
          <a:solidFill>
            <a:srgbClr val="AAB4DC">
              <a:alpha val="47843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AutoShape 6"/>
          <p:cNvSpPr/>
          <p:nvPr/>
        </p:nvSpPr>
        <p:spPr>
          <a:xfrm>
            <a:off x="1130300" y="23622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5171C2"/>
          </a:solidFill>
        </p:spPr>
        <p:txBody>
          <a:bodyPr/>
          <a:lstStyle/>
          <a:p>
            <a:endParaRPr lang="en-GB"/>
          </a:p>
        </p:txBody>
      </p:sp>
      <p:sp>
        <p:nvSpPr>
          <p:cNvPr id="7" name="AutoShape 7"/>
          <p:cNvSpPr/>
          <p:nvPr/>
        </p:nvSpPr>
        <p:spPr>
          <a:xfrm>
            <a:off x="5791200" y="2108200"/>
            <a:ext cx="4660900" cy="5803900"/>
          </a:xfrm>
          <a:prstGeom prst="rect">
            <a:avLst/>
          </a:prstGeom>
          <a:solidFill>
            <a:srgbClr val="AAB4DC">
              <a:alpha val="47843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AutoShape 8"/>
          <p:cNvSpPr/>
          <p:nvPr/>
        </p:nvSpPr>
        <p:spPr>
          <a:xfrm>
            <a:off x="6045200" y="23622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5171C2"/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AutoShape 9"/>
          <p:cNvSpPr/>
          <p:nvPr/>
        </p:nvSpPr>
        <p:spPr>
          <a:xfrm>
            <a:off x="10706100" y="2108200"/>
            <a:ext cx="4660900" cy="5803900"/>
          </a:xfrm>
          <a:prstGeom prst="rect">
            <a:avLst/>
          </a:prstGeom>
          <a:solidFill>
            <a:srgbClr val="AAB4DC">
              <a:alpha val="47843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AutoShape 10"/>
          <p:cNvSpPr/>
          <p:nvPr/>
        </p:nvSpPr>
        <p:spPr>
          <a:xfrm>
            <a:off x="10960100" y="23622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5171C2"/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TextBox 11"/>
          <p:cNvSpPr txBox="1"/>
          <p:nvPr/>
        </p:nvSpPr>
        <p:spPr>
          <a:xfrm>
            <a:off x="876300" y="12192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3154D4"/>
                </a:solidFill>
                <a:latin typeface="Poppins"/>
              </a:rPr>
              <a:t>Streaming Workflow: End-to-End Real-Time Pipeline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1130300" y="3365500"/>
            <a:ext cx="41529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3154D4"/>
                </a:solidFill>
                <a:latin typeface="Poppins"/>
              </a:rPr>
              <a:t>Kafka Source &amp; Ingestion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6045200" y="3365500"/>
            <a:ext cx="41529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3154D4"/>
                </a:solidFill>
                <a:latin typeface="Poppins"/>
              </a:rPr>
              <a:t>Processing &amp; Storage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10960100" y="3365500"/>
            <a:ext cx="41529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3154D4"/>
                </a:solidFill>
                <a:latin typeface="Poppins"/>
              </a:rPr>
              <a:t>Query &amp; Analytics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1384300" y="4457700"/>
            <a:ext cx="3898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Kafka Topic Source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1384300" y="5016500"/>
            <a:ext cx="3898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Data source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384300" y="5600700"/>
            <a:ext cx="3898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Producer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1384300" y="6146800"/>
            <a:ext cx="3898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Writes events to Kafka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1384300" y="6731000"/>
            <a:ext cx="3898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Kafka Topic Stream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1384300" y="7277100"/>
            <a:ext cx="3898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Event stream buffering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6299200" y="4457700"/>
            <a:ext cx="3898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Consumer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6299200" y="5016500"/>
            <a:ext cx="3898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Reads from Kafka topics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6299200" y="5600700"/>
            <a:ext cx="3898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HDFS Storage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6299200" y="6146800"/>
            <a:ext cx="3898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Distributed storage layer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6299200" y="6731000"/>
            <a:ext cx="3898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Hive External Table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6299200" y="7277100"/>
            <a:ext cx="3898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Schema layer for HDFS data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11214100" y="4013200"/>
            <a:ext cx="3898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Impala Query</a:t>
            </a:r>
            <a:endParaRPr lang="en-US" sz="1100"/>
          </a:p>
        </p:txBody>
      </p:sp>
      <p:sp>
        <p:nvSpPr>
          <p:cNvPr id="28" name="TextBox 28"/>
          <p:cNvSpPr txBox="1"/>
          <p:nvPr/>
        </p:nvSpPr>
        <p:spPr>
          <a:xfrm>
            <a:off x="11214100" y="4559300"/>
            <a:ext cx="3898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Fast interactive queries</a:t>
            </a:r>
            <a:endParaRPr lang="en-US" sz="1100"/>
          </a:p>
        </p:txBody>
      </p:sp>
      <p:sp>
        <p:nvSpPr>
          <p:cNvPr id="29" name="TextBox 29"/>
          <p:cNvSpPr txBox="1"/>
          <p:nvPr/>
        </p:nvSpPr>
        <p:spPr>
          <a:xfrm>
            <a:off x="11214100" y="5143500"/>
            <a:ext cx="3898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PowerBI Dashboard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11214100" y="5702300"/>
            <a:ext cx="38989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Real-time visualization &amp; analytics</a:t>
            </a:r>
            <a:endParaRPr lang="en-US" sz="1100"/>
          </a:p>
        </p:txBody>
      </p:sp>
      <p:sp>
        <p:nvSpPr>
          <p:cNvPr id="31" name="TextBox 31"/>
          <p:cNvSpPr txBox="1"/>
          <p:nvPr/>
        </p:nvSpPr>
        <p:spPr>
          <a:xfrm>
            <a:off x="1003300" y="45212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2" name="TextBox 32"/>
          <p:cNvSpPr txBox="1"/>
          <p:nvPr/>
        </p:nvSpPr>
        <p:spPr>
          <a:xfrm>
            <a:off x="1003300" y="56642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3" name="TextBox 33"/>
          <p:cNvSpPr txBox="1"/>
          <p:nvPr/>
        </p:nvSpPr>
        <p:spPr>
          <a:xfrm>
            <a:off x="1003300" y="67945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4" name="TextBox 34"/>
          <p:cNvSpPr txBox="1"/>
          <p:nvPr/>
        </p:nvSpPr>
        <p:spPr>
          <a:xfrm>
            <a:off x="5918200" y="45212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5" name="TextBox 35"/>
          <p:cNvSpPr txBox="1"/>
          <p:nvPr/>
        </p:nvSpPr>
        <p:spPr>
          <a:xfrm>
            <a:off x="5918200" y="56642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6" name="TextBox 36"/>
          <p:cNvSpPr txBox="1"/>
          <p:nvPr/>
        </p:nvSpPr>
        <p:spPr>
          <a:xfrm>
            <a:off x="5918200" y="67945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7" name="TextBox 37"/>
          <p:cNvSpPr txBox="1"/>
          <p:nvPr/>
        </p:nvSpPr>
        <p:spPr>
          <a:xfrm>
            <a:off x="10833100" y="40767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8" name="TextBox 38"/>
          <p:cNvSpPr txBox="1"/>
          <p:nvPr/>
        </p:nvSpPr>
        <p:spPr>
          <a:xfrm>
            <a:off x="10833100" y="52070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pic>
        <p:nvPicPr>
          <p:cNvPr id="39" name="Picture 39"/>
          <p:cNvPicPr>
            <a:picLocks noChangeAspect="1"/>
          </p:cNvPicPr>
          <p:nvPr/>
        </p:nvPicPr>
        <p:blipFill>
          <a:blip r:embed="rId3"/>
          <a:srcRect t="11000" b="11000"/>
          <a:stretch>
            <a:fillRect/>
          </a:stretch>
        </p:blipFill>
        <p:spPr>
          <a:xfrm>
            <a:off x="1346200" y="2616200"/>
            <a:ext cx="304800" cy="2413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4"/>
          <a:srcRect t="7000" b="7000"/>
          <a:stretch>
            <a:fillRect/>
          </a:stretch>
        </p:blipFill>
        <p:spPr>
          <a:xfrm>
            <a:off x="6273800" y="2616200"/>
            <a:ext cx="279400" cy="2413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5"/>
          <a:srcRect t="7000" b="7000"/>
          <a:stretch>
            <a:fillRect/>
          </a:stretch>
        </p:blipFill>
        <p:spPr>
          <a:xfrm>
            <a:off x="11188700" y="2616200"/>
            <a:ext cx="279400" cy="2413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GB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3022600"/>
            <a:ext cx="14490700" cy="5473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5" name="AutoShape 5"/>
          <p:cNvSpPr/>
          <p:nvPr/>
        </p:nvSpPr>
        <p:spPr>
          <a:xfrm>
            <a:off x="876300" y="5765800"/>
            <a:ext cx="14490700" cy="12700"/>
          </a:xfrm>
          <a:prstGeom prst="rect">
            <a:avLst/>
          </a:prstGeom>
          <a:solidFill>
            <a:srgbClr val="7280AF"/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AutoShape 6"/>
          <p:cNvSpPr/>
          <p:nvPr/>
        </p:nvSpPr>
        <p:spPr>
          <a:xfrm>
            <a:off x="876300" y="3022600"/>
            <a:ext cx="3911600" cy="273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7" name="AutoShape 7"/>
          <p:cNvSpPr/>
          <p:nvPr/>
        </p:nvSpPr>
        <p:spPr>
          <a:xfrm>
            <a:off x="2552700" y="5511800"/>
            <a:ext cx="558800" cy="508000"/>
          </a:xfrm>
          <a:prstGeom prst="rect">
            <a:avLst/>
          </a:prstGeom>
          <a:solidFill>
            <a:srgbClr val="AAB4DC"/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AutoShape 8"/>
          <p:cNvSpPr/>
          <p:nvPr/>
        </p:nvSpPr>
        <p:spPr>
          <a:xfrm>
            <a:off x="2819400" y="5080000"/>
            <a:ext cx="12700" cy="673100"/>
          </a:xfrm>
          <a:prstGeom prst="rect">
            <a:avLst/>
          </a:prstGeom>
          <a:solidFill>
            <a:srgbClr val="7280AF"/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AutoShape 9"/>
          <p:cNvSpPr/>
          <p:nvPr/>
        </p:nvSpPr>
        <p:spPr>
          <a:xfrm>
            <a:off x="1130300" y="3111500"/>
            <a:ext cx="3403600" cy="186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AutoShape 10"/>
          <p:cNvSpPr/>
          <p:nvPr/>
        </p:nvSpPr>
        <p:spPr>
          <a:xfrm>
            <a:off x="2997200" y="5765800"/>
            <a:ext cx="3911600" cy="273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AutoShape 11"/>
          <p:cNvSpPr/>
          <p:nvPr/>
        </p:nvSpPr>
        <p:spPr>
          <a:xfrm>
            <a:off x="4660900" y="5511800"/>
            <a:ext cx="558800" cy="508000"/>
          </a:xfrm>
          <a:prstGeom prst="rect">
            <a:avLst/>
          </a:prstGeom>
          <a:solidFill>
            <a:srgbClr val="AAB4DC"/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AutoShape 12"/>
          <p:cNvSpPr/>
          <p:nvPr/>
        </p:nvSpPr>
        <p:spPr>
          <a:xfrm>
            <a:off x="4940300" y="5765800"/>
            <a:ext cx="12700" cy="673100"/>
          </a:xfrm>
          <a:prstGeom prst="rect">
            <a:avLst/>
          </a:prstGeom>
          <a:solidFill>
            <a:srgbClr val="7280AF"/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AutoShape 13"/>
          <p:cNvSpPr/>
          <p:nvPr/>
        </p:nvSpPr>
        <p:spPr>
          <a:xfrm>
            <a:off x="3238500" y="6642100"/>
            <a:ext cx="3403600" cy="186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AutoShape 14"/>
          <p:cNvSpPr/>
          <p:nvPr/>
        </p:nvSpPr>
        <p:spPr>
          <a:xfrm>
            <a:off x="5105400" y="3022600"/>
            <a:ext cx="3911600" cy="273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AutoShape 15"/>
          <p:cNvSpPr/>
          <p:nvPr/>
        </p:nvSpPr>
        <p:spPr>
          <a:xfrm>
            <a:off x="6781800" y="5511800"/>
            <a:ext cx="558800" cy="508000"/>
          </a:xfrm>
          <a:prstGeom prst="rect">
            <a:avLst/>
          </a:prstGeom>
          <a:solidFill>
            <a:srgbClr val="AAB4DC"/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AutoShape 16"/>
          <p:cNvSpPr/>
          <p:nvPr/>
        </p:nvSpPr>
        <p:spPr>
          <a:xfrm>
            <a:off x="7048500" y="5080000"/>
            <a:ext cx="12700" cy="673100"/>
          </a:xfrm>
          <a:prstGeom prst="rect">
            <a:avLst/>
          </a:prstGeom>
          <a:solidFill>
            <a:srgbClr val="7280AF"/>
          </a:solidFill>
        </p:spPr>
        <p:txBody>
          <a:bodyPr/>
          <a:lstStyle/>
          <a:p>
            <a:endParaRPr lang="en-GB"/>
          </a:p>
        </p:txBody>
      </p:sp>
      <p:sp>
        <p:nvSpPr>
          <p:cNvPr id="17" name="AutoShape 17"/>
          <p:cNvSpPr/>
          <p:nvPr/>
        </p:nvSpPr>
        <p:spPr>
          <a:xfrm>
            <a:off x="5359400" y="3441700"/>
            <a:ext cx="3403600" cy="152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18" name="AutoShape 18"/>
          <p:cNvSpPr/>
          <p:nvPr/>
        </p:nvSpPr>
        <p:spPr>
          <a:xfrm>
            <a:off x="7226300" y="5765800"/>
            <a:ext cx="3911600" cy="273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19" name="AutoShape 19"/>
          <p:cNvSpPr/>
          <p:nvPr/>
        </p:nvSpPr>
        <p:spPr>
          <a:xfrm>
            <a:off x="8890000" y="5511800"/>
            <a:ext cx="558800" cy="508000"/>
          </a:xfrm>
          <a:prstGeom prst="rect">
            <a:avLst/>
          </a:prstGeom>
          <a:solidFill>
            <a:srgbClr val="AAB4DC"/>
          </a:solidFill>
        </p:spPr>
        <p:txBody>
          <a:bodyPr/>
          <a:lstStyle/>
          <a:p>
            <a:endParaRPr lang="en-GB"/>
          </a:p>
        </p:txBody>
      </p:sp>
      <p:sp>
        <p:nvSpPr>
          <p:cNvPr id="20" name="AutoShape 20"/>
          <p:cNvSpPr/>
          <p:nvPr/>
        </p:nvSpPr>
        <p:spPr>
          <a:xfrm>
            <a:off x="9169400" y="5765800"/>
            <a:ext cx="12700" cy="673100"/>
          </a:xfrm>
          <a:prstGeom prst="rect">
            <a:avLst/>
          </a:prstGeom>
          <a:solidFill>
            <a:srgbClr val="7280AF"/>
          </a:solidFill>
        </p:spPr>
        <p:txBody>
          <a:bodyPr/>
          <a:lstStyle/>
          <a:p>
            <a:endParaRPr lang="en-GB"/>
          </a:p>
        </p:txBody>
      </p:sp>
      <p:sp>
        <p:nvSpPr>
          <p:cNvPr id="21" name="AutoShape 21"/>
          <p:cNvSpPr/>
          <p:nvPr/>
        </p:nvSpPr>
        <p:spPr>
          <a:xfrm>
            <a:off x="7467600" y="6642100"/>
            <a:ext cx="3403600" cy="186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22" name="AutoShape 22"/>
          <p:cNvSpPr/>
          <p:nvPr/>
        </p:nvSpPr>
        <p:spPr>
          <a:xfrm>
            <a:off x="9334500" y="3022600"/>
            <a:ext cx="3911600" cy="273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23" name="AutoShape 23"/>
          <p:cNvSpPr/>
          <p:nvPr/>
        </p:nvSpPr>
        <p:spPr>
          <a:xfrm>
            <a:off x="11010900" y="5511800"/>
            <a:ext cx="558800" cy="508000"/>
          </a:xfrm>
          <a:prstGeom prst="rect">
            <a:avLst/>
          </a:prstGeom>
          <a:solidFill>
            <a:srgbClr val="AAB4DC"/>
          </a:solidFill>
        </p:spPr>
        <p:txBody>
          <a:bodyPr/>
          <a:lstStyle/>
          <a:p>
            <a:endParaRPr lang="en-GB"/>
          </a:p>
        </p:txBody>
      </p:sp>
      <p:sp>
        <p:nvSpPr>
          <p:cNvPr id="24" name="AutoShape 24"/>
          <p:cNvSpPr/>
          <p:nvPr/>
        </p:nvSpPr>
        <p:spPr>
          <a:xfrm>
            <a:off x="11277600" y="5080000"/>
            <a:ext cx="12700" cy="673100"/>
          </a:xfrm>
          <a:prstGeom prst="rect">
            <a:avLst/>
          </a:prstGeom>
          <a:solidFill>
            <a:srgbClr val="7280AF"/>
          </a:solidFill>
        </p:spPr>
        <p:txBody>
          <a:bodyPr/>
          <a:lstStyle/>
          <a:p>
            <a:endParaRPr lang="en-GB"/>
          </a:p>
        </p:txBody>
      </p:sp>
      <p:sp>
        <p:nvSpPr>
          <p:cNvPr id="25" name="AutoShape 25"/>
          <p:cNvSpPr/>
          <p:nvPr/>
        </p:nvSpPr>
        <p:spPr>
          <a:xfrm>
            <a:off x="9588500" y="3111500"/>
            <a:ext cx="3403600" cy="186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26" name="AutoShape 26"/>
          <p:cNvSpPr/>
          <p:nvPr/>
        </p:nvSpPr>
        <p:spPr>
          <a:xfrm>
            <a:off x="11455400" y="5765800"/>
            <a:ext cx="3911600" cy="273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27" name="AutoShape 27"/>
          <p:cNvSpPr/>
          <p:nvPr/>
        </p:nvSpPr>
        <p:spPr>
          <a:xfrm>
            <a:off x="13131800" y="5511800"/>
            <a:ext cx="558800" cy="508000"/>
          </a:xfrm>
          <a:prstGeom prst="rect">
            <a:avLst/>
          </a:prstGeom>
          <a:solidFill>
            <a:srgbClr val="AAB4DC"/>
          </a:solidFill>
        </p:spPr>
        <p:txBody>
          <a:bodyPr/>
          <a:lstStyle/>
          <a:p>
            <a:endParaRPr lang="en-GB"/>
          </a:p>
        </p:txBody>
      </p:sp>
      <p:sp>
        <p:nvSpPr>
          <p:cNvPr id="28" name="AutoShape 28"/>
          <p:cNvSpPr/>
          <p:nvPr/>
        </p:nvSpPr>
        <p:spPr>
          <a:xfrm>
            <a:off x="13398500" y="5765800"/>
            <a:ext cx="12700" cy="673100"/>
          </a:xfrm>
          <a:prstGeom prst="rect">
            <a:avLst/>
          </a:prstGeom>
          <a:solidFill>
            <a:srgbClr val="7280AF"/>
          </a:solidFill>
        </p:spPr>
        <p:txBody>
          <a:bodyPr/>
          <a:lstStyle/>
          <a:p>
            <a:endParaRPr lang="en-GB"/>
          </a:p>
        </p:txBody>
      </p:sp>
      <p:sp>
        <p:nvSpPr>
          <p:cNvPr id="29" name="AutoShape 29"/>
          <p:cNvSpPr/>
          <p:nvPr/>
        </p:nvSpPr>
        <p:spPr>
          <a:xfrm>
            <a:off x="11709400" y="6642100"/>
            <a:ext cx="3403600" cy="186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30" name="TextBox 30"/>
          <p:cNvSpPr txBox="1"/>
          <p:nvPr/>
        </p:nvSpPr>
        <p:spPr>
          <a:xfrm>
            <a:off x="876300" y="622300"/>
            <a:ext cx="14490700" cy="546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500" b="1">
                <a:solidFill>
                  <a:srgbClr val="3154D4"/>
                </a:solidFill>
                <a:latin typeface="Poppins"/>
              </a:rPr>
              <a:t>Streaming Pipeline Execution (Jenkins)</a:t>
            </a:r>
            <a:endParaRPr lang="en-US" sz="1100"/>
          </a:p>
        </p:txBody>
      </p:sp>
      <p:sp>
        <p:nvSpPr>
          <p:cNvPr id="31" name="TextBox 31"/>
          <p:cNvSpPr txBox="1"/>
          <p:nvPr/>
        </p:nvSpPr>
        <p:spPr>
          <a:xfrm>
            <a:off x="1130300" y="3111500"/>
            <a:ext cx="3403600" cy="673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200" b="1">
                <a:solidFill>
                  <a:srgbClr val="3154D4"/>
                </a:solidFill>
                <a:latin typeface="Poppins"/>
              </a:rPr>
              <a:t>Trigger (every 5mins)</a:t>
            </a:r>
            <a:endParaRPr lang="en-US" sz="1100"/>
          </a:p>
        </p:txBody>
      </p:sp>
      <p:sp>
        <p:nvSpPr>
          <p:cNvPr id="32" name="TextBox 32"/>
          <p:cNvSpPr txBox="1"/>
          <p:nvPr/>
        </p:nvSpPr>
        <p:spPr>
          <a:xfrm>
            <a:off x="3238500" y="6642100"/>
            <a:ext cx="3403600" cy="673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200" b="1">
                <a:solidFill>
                  <a:srgbClr val="3154D4"/>
                </a:solidFill>
                <a:latin typeface="Poppins"/>
              </a:rPr>
              <a:t>Upgrade pip, Install Dependencies</a:t>
            </a:r>
            <a:endParaRPr lang="en-US" sz="1100"/>
          </a:p>
        </p:txBody>
      </p:sp>
      <p:sp>
        <p:nvSpPr>
          <p:cNvPr id="33" name="TextBox 33"/>
          <p:cNvSpPr txBox="1"/>
          <p:nvPr/>
        </p:nvSpPr>
        <p:spPr>
          <a:xfrm>
            <a:off x="5359400" y="3441700"/>
            <a:ext cx="3403600" cy="330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200" b="1">
                <a:solidFill>
                  <a:srgbClr val="3154D4"/>
                </a:solidFill>
                <a:latin typeface="Poppins"/>
              </a:rPr>
              <a:t>Start Producer</a:t>
            </a:r>
            <a:endParaRPr lang="en-US" sz="1100"/>
          </a:p>
        </p:txBody>
      </p:sp>
      <p:sp>
        <p:nvSpPr>
          <p:cNvPr id="34" name="TextBox 34"/>
          <p:cNvSpPr txBox="1"/>
          <p:nvPr/>
        </p:nvSpPr>
        <p:spPr>
          <a:xfrm>
            <a:off x="7467600" y="6642100"/>
            <a:ext cx="3403600" cy="330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200" b="1">
                <a:solidFill>
                  <a:srgbClr val="3154D4"/>
                </a:solidFill>
                <a:latin typeface="Poppins"/>
              </a:rPr>
              <a:t>Start Consumer</a:t>
            </a:r>
            <a:endParaRPr lang="en-US" sz="1100"/>
          </a:p>
        </p:txBody>
      </p:sp>
      <p:sp>
        <p:nvSpPr>
          <p:cNvPr id="35" name="TextBox 35"/>
          <p:cNvSpPr txBox="1"/>
          <p:nvPr/>
        </p:nvSpPr>
        <p:spPr>
          <a:xfrm>
            <a:off x="9588500" y="3111500"/>
            <a:ext cx="3403600" cy="673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200" b="1">
                <a:solidFill>
                  <a:srgbClr val="3154D4"/>
                </a:solidFill>
                <a:latin typeface="Poppins"/>
              </a:rPr>
              <a:t>Refresh Impala Metadata</a:t>
            </a:r>
            <a:endParaRPr lang="en-US" sz="1100"/>
          </a:p>
        </p:txBody>
      </p:sp>
      <p:sp>
        <p:nvSpPr>
          <p:cNvPr id="36" name="TextBox 36"/>
          <p:cNvSpPr txBox="1"/>
          <p:nvPr/>
        </p:nvSpPr>
        <p:spPr>
          <a:xfrm>
            <a:off x="11709400" y="6642100"/>
            <a:ext cx="3403600" cy="330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200" b="1">
                <a:solidFill>
                  <a:srgbClr val="3154D4"/>
                </a:solidFill>
                <a:latin typeface="Poppins"/>
              </a:rPr>
              <a:t>Dashboard Updated</a:t>
            </a:r>
            <a:endParaRPr lang="en-US" sz="1100"/>
          </a:p>
        </p:txBody>
      </p:sp>
      <p:sp>
        <p:nvSpPr>
          <p:cNvPr id="37" name="TextBox 37"/>
          <p:cNvSpPr txBox="1"/>
          <p:nvPr/>
        </p:nvSpPr>
        <p:spPr>
          <a:xfrm>
            <a:off x="1130300" y="3949700"/>
            <a:ext cx="3403600" cy="1016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700" b="1">
                <a:solidFill>
                  <a:srgbClr val="030303"/>
                </a:solidFill>
                <a:latin typeface="Poppins"/>
              </a:rPr>
              <a:t> GitHub integration + cron scheduler. Jenkins job queued and started.</a:t>
            </a:r>
            <a:endParaRPr lang="en-US" sz="1100"/>
          </a:p>
        </p:txBody>
      </p:sp>
      <p:sp>
        <p:nvSpPr>
          <p:cNvPr id="38" name="TextBox 38"/>
          <p:cNvSpPr txBox="1"/>
          <p:nvPr/>
        </p:nvSpPr>
        <p:spPr>
          <a:xfrm>
            <a:off x="3238500" y="7493000"/>
            <a:ext cx="3403600" cy="1016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700" b="1">
                <a:solidFill>
                  <a:srgbClr val="030303"/>
                </a:solidFill>
                <a:latin typeface="Poppins"/>
              </a:rPr>
              <a:t>Upgrade setuptools &amp; wheel. Install all libraries from requirements.txt.</a:t>
            </a:r>
            <a:endParaRPr lang="en-US" sz="1100"/>
          </a:p>
        </p:txBody>
      </p:sp>
      <p:sp>
        <p:nvSpPr>
          <p:cNvPr id="39" name="TextBox 39"/>
          <p:cNvSpPr txBox="1"/>
          <p:nvPr/>
        </p:nvSpPr>
        <p:spPr>
          <a:xfrm>
            <a:off x="5359400" y="3949700"/>
            <a:ext cx="3403600" cy="1016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700" b="1">
                <a:solidFill>
                  <a:srgbClr val="030303"/>
                </a:solidFill>
                <a:latin typeface="Poppins"/>
              </a:rPr>
              <a:t>Execute producer.py with Spark. Connect to TfL API. Produce Kafka messages.</a:t>
            </a:r>
            <a:endParaRPr lang="en-US" sz="1100"/>
          </a:p>
        </p:txBody>
      </p:sp>
      <p:sp>
        <p:nvSpPr>
          <p:cNvPr id="40" name="TextBox 40"/>
          <p:cNvSpPr txBox="1"/>
          <p:nvPr/>
        </p:nvSpPr>
        <p:spPr>
          <a:xfrm>
            <a:off x="7467600" y="7150100"/>
            <a:ext cx="3403600" cy="1358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700" b="1">
                <a:solidFill>
                  <a:srgbClr val="030303"/>
                </a:solidFill>
                <a:latin typeface="Poppins"/>
              </a:rPr>
              <a:t>Execute consumer.py with Spark. Read Kafka messages. Transform &amp; clean data to HDFS.</a:t>
            </a:r>
            <a:endParaRPr lang="en-US" sz="1100"/>
          </a:p>
        </p:txBody>
      </p:sp>
      <p:sp>
        <p:nvSpPr>
          <p:cNvPr id="41" name="TextBox 41"/>
          <p:cNvSpPr txBox="1"/>
          <p:nvPr/>
        </p:nvSpPr>
        <p:spPr>
          <a:xfrm>
            <a:off x="9588500" y="3949700"/>
            <a:ext cx="3403600" cy="1016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700" b="1">
                <a:solidFill>
                  <a:srgbClr val="030303"/>
                </a:solidFill>
                <a:latin typeface="Poppins"/>
              </a:rPr>
              <a:t>. Metadata cache invalidation. Hive/Impala synchronization.</a:t>
            </a:r>
            <a:endParaRPr lang="en-US" sz="1100"/>
          </a:p>
        </p:txBody>
      </p:sp>
      <p:sp>
        <p:nvSpPr>
          <p:cNvPr id="42" name="TextBox 42"/>
          <p:cNvSpPr txBox="1"/>
          <p:nvPr/>
        </p:nvSpPr>
        <p:spPr>
          <a:xfrm>
            <a:off x="11709400" y="7150100"/>
            <a:ext cx="3403600" cy="1358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700" b="1">
                <a:solidFill>
                  <a:srgbClr val="030303"/>
                </a:solidFill>
                <a:latin typeface="Poppins"/>
              </a:rPr>
              <a:t>PowerBI pulls latest data. Real-time dashboard refresh. Metrics &amp; KPIs ready for consumption.</a:t>
            </a:r>
            <a:endParaRPr lang="en-US" sz="1100"/>
          </a:p>
        </p:txBody>
      </p:sp>
      <p:pic>
        <p:nvPicPr>
          <p:cNvPr id="43" name="Picture 43"/>
          <p:cNvPicPr>
            <a:picLocks noChangeAspect="1"/>
          </p:cNvPicPr>
          <p:nvPr/>
        </p:nvPicPr>
        <p:blipFill>
          <a:blip r:embed="rId3"/>
          <a:srcRect l="9000" r="9000"/>
          <a:stretch>
            <a:fillRect/>
          </a:stretch>
        </p:blipFill>
        <p:spPr>
          <a:xfrm>
            <a:off x="2743200" y="5651500"/>
            <a:ext cx="177800" cy="2159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4"/>
          <a:srcRect t="6000" b="6000"/>
          <a:stretch>
            <a:fillRect/>
          </a:stretch>
        </p:blipFill>
        <p:spPr>
          <a:xfrm>
            <a:off x="4826000" y="5651500"/>
            <a:ext cx="241300" cy="215900"/>
          </a:xfrm>
          <a:prstGeom prst="rect">
            <a:avLst/>
          </a:prstGeom>
        </p:spPr>
      </p:pic>
      <p:pic>
        <p:nvPicPr>
          <p:cNvPr id="45" name="Picture 45"/>
          <p:cNvPicPr>
            <a:picLocks noChangeAspect="1"/>
          </p:cNvPicPr>
          <p:nvPr/>
        </p:nvPicPr>
        <p:blipFill>
          <a:blip r:embed="rId5"/>
          <a:srcRect l="9000" r="9000"/>
          <a:stretch>
            <a:fillRect/>
          </a:stretch>
        </p:blipFill>
        <p:spPr>
          <a:xfrm>
            <a:off x="6972300" y="5651500"/>
            <a:ext cx="177800" cy="215900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067800" y="5651500"/>
            <a:ext cx="215900" cy="215900"/>
          </a:xfrm>
          <a:prstGeom prst="rect">
            <a:avLst/>
          </a:prstGeom>
        </p:spPr>
      </p:pic>
      <p:pic>
        <p:nvPicPr>
          <p:cNvPr id="47" name="Picture 47"/>
          <p:cNvPicPr>
            <a:picLocks noChangeAspect="1"/>
          </p:cNvPicPr>
          <p:nvPr/>
        </p:nvPicPr>
        <p:blipFill>
          <a:blip r:embed="rId7"/>
          <a:srcRect t="6000" b="6000"/>
          <a:stretch>
            <a:fillRect/>
          </a:stretch>
        </p:blipFill>
        <p:spPr>
          <a:xfrm>
            <a:off x="11163300" y="5651500"/>
            <a:ext cx="241300" cy="215900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8"/>
          <a:srcRect t="6000" b="6000"/>
          <a:stretch>
            <a:fillRect/>
          </a:stretch>
        </p:blipFill>
        <p:spPr>
          <a:xfrm>
            <a:off x="13284200" y="5651500"/>
            <a:ext cx="241300" cy="21590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7E37BD1F-6D6B-8FC9-0800-68BA3A500A3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5250" y="1527118"/>
            <a:ext cx="13525500" cy="141293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GB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1181100"/>
            <a:ext cx="14490700" cy="7416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5" name="AutoShape 5"/>
          <p:cNvSpPr/>
          <p:nvPr/>
        </p:nvSpPr>
        <p:spPr>
          <a:xfrm>
            <a:off x="876300" y="1181100"/>
            <a:ext cx="3429000" cy="4495800"/>
          </a:xfrm>
          <a:prstGeom prst="rect">
            <a:avLst/>
          </a:prstGeom>
          <a:solidFill>
            <a:srgbClr val="AAB4DC">
              <a:alpha val="47843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AutoShape 6"/>
          <p:cNvSpPr/>
          <p:nvPr/>
        </p:nvSpPr>
        <p:spPr>
          <a:xfrm>
            <a:off x="1219200" y="1371600"/>
            <a:ext cx="558800" cy="558800"/>
          </a:xfrm>
          <a:prstGeom prst="roundRect">
            <a:avLst>
              <a:gd name="adj" fmla="val 50000"/>
            </a:avLst>
          </a:prstGeom>
          <a:solidFill>
            <a:srgbClr val="5171C2"/>
          </a:solidFill>
        </p:spPr>
        <p:txBody>
          <a:bodyPr/>
          <a:lstStyle/>
          <a:p>
            <a:endParaRPr lang="en-GB"/>
          </a:p>
        </p:txBody>
      </p:sp>
      <p:sp>
        <p:nvSpPr>
          <p:cNvPr id="7" name="AutoShape 7"/>
          <p:cNvSpPr/>
          <p:nvPr/>
        </p:nvSpPr>
        <p:spPr>
          <a:xfrm>
            <a:off x="4559300" y="1181100"/>
            <a:ext cx="3429000" cy="4495800"/>
          </a:xfrm>
          <a:prstGeom prst="rect">
            <a:avLst/>
          </a:prstGeom>
          <a:solidFill>
            <a:srgbClr val="AAB4DC">
              <a:alpha val="47843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AutoShape 8"/>
          <p:cNvSpPr/>
          <p:nvPr/>
        </p:nvSpPr>
        <p:spPr>
          <a:xfrm>
            <a:off x="4902200" y="1371600"/>
            <a:ext cx="558800" cy="558800"/>
          </a:xfrm>
          <a:prstGeom prst="roundRect">
            <a:avLst>
              <a:gd name="adj" fmla="val 50000"/>
            </a:avLst>
          </a:prstGeom>
          <a:solidFill>
            <a:srgbClr val="5171C2"/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AutoShape 9"/>
          <p:cNvSpPr/>
          <p:nvPr/>
        </p:nvSpPr>
        <p:spPr>
          <a:xfrm>
            <a:off x="8242300" y="1181100"/>
            <a:ext cx="3429000" cy="4495800"/>
          </a:xfrm>
          <a:prstGeom prst="rect">
            <a:avLst/>
          </a:prstGeom>
          <a:solidFill>
            <a:srgbClr val="AAB4DC">
              <a:alpha val="47843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AutoShape 10"/>
          <p:cNvSpPr/>
          <p:nvPr/>
        </p:nvSpPr>
        <p:spPr>
          <a:xfrm>
            <a:off x="8597900" y="1371600"/>
            <a:ext cx="558800" cy="558800"/>
          </a:xfrm>
          <a:prstGeom prst="roundRect">
            <a:avLst>
              <a:gd name="adj" fmla="val 50000"/>
            </a:avLst>
          </a:prstGeom>
          <a:solidFill>
            <a:srgbClr val="5171C2"/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AutoShape 11"/>
          <p:cNvSpPr/>
          <p:nvPr/>
        </p:nvSpPr>
        <p:spPr>
          <a:xfrm>
            <a:off x="11938000" y="1181100"/>
            <a:ext cx="3429000" cy="4495800"/>
          </a:xfrm>
          <a:prstGeom prst="rect">
            <a:avLst/>
          </a:prstGeom>
          <a:solidFill>
            <a:srgbClr val="AAB4DC">
              <a:alpha val="47843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AutoShape 12"/>
          <p:cNvSpPr/>
          <p:nvPr/>
        </p:nvSpPr>
        <p:spPr>
          <a:xfrm>
            <a:off x="12280900" y="1371600"/>
            <a:ext cx="558800" cy="558800"/>
          </a:xfrm>
          <a:prstGeom prst="roundRect">
            <a:avLst>
              <a:gd name="adj" fmla="val 50000"/>
            </a:avLst>
          </a:prstGeom>
          <a:solidFill>
            <a:srgbClr val="5171C2"/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AutoShape 13"/>
          <p:cNvSpPr/>
          <p:nvPr/>
        </p:nvSpPr>
        <p:spPr>
          <a:xfrm>
            <a:off x="876300" y="5880100"/>
            <a:ext cx="14490700" cy="2730500"/>
          </a:xfrm>
          <a:prstGeom prst="rect">
            <a:avLst/>
          </a:prstGeom>
          <a:solidFill>
            <a:srgbClr val="AAB4DC">
              <a:alpha val="47843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AutoShape 14"/>
          <p:cNvSpPr/>
          <p:nvPr/>
        </p:nvSpPr>
        <p:spPr>
          <a:xfrm>
            <a:off x="1219200" y="6070600"/>
            <a:ext cx="558800" cy="558800"/>
          </a:xfrm>
          <a:prstGeom prst="roundRect">
            <a:avLst>
              <a:gd name="adj" fmla="val 50000"/>
            </a:avLst>
          </a:prstGeom>
          <a:solidFill>
            <a:srgbClr val="5171C2"/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TextBox 15"/>
          <p:cNvSpPr txBox="1"/>
          <p:nvPr/>
        </p:nvSpPr>
        <p:spPr>
          <a:xfrm>
            <a:off x="876300" y="520700"/>
            <a:ext cx="14490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3154D4"/>
                </a:solidFill>
                <a:latin typeface="Poppins"/>
              </a:rPr>
              <a:t>Streaming Integrations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1130300" y="2133600"/>
            <a:ext cx="2921000" cy="673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200" b="1">
                <a:solidFill>
                  <a:srgbClr val="3154D4"/>
                </a:solidFill>
                <a:latin typeface="Poppins"/>
              </a:rPr>
              <a:t>TfL API Integration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4813300" y="2133600"/>
            <a:ext cx="2921000" cy="673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200" b="1">
                <a:solidFill>
                  <a:srgbClr val="3154D4"/>
                </a:solidFill>
                <a:latin typeface="Poppins"/>
              </a:rPr>
              <a:t>Kafka Producer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8496300" y="2133600"/>
            <a:ext cx="2921000" cy="673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200" b="1">
                <a:solidFill>
                  <a:srgbClr val="3154D4"/>
                </a:solidFill>
                <a:latin typeface="Poppins"/>
              </a:rPr>
              <a:t>Kafka Consumer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12179300" y="2133600"/>
            <a:ext cx="2921000" cy="673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200" b="1">
                <a:solidFill>
                  <a:srgbClr val="3154D4"/>
                </a:solidFill>
                <a:latin typeface="Poppins"/>
              </a:rPr>
              <a:t>Data Storage &amp; Query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1130300" y="6832600"/>
            <a:ext cx="7099300" cy="330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200" b="1">
                <a:solidFill>
                  <a:srgbClr val="3154D4"/>
                </a:solidFill>
                <a:latin typeface="Poppins"/>
              </a:rPr>
              <a:t>Jenkins Orchestration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130300" y="2959100"/>
            <a:ext cx="2921000" cy="558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30303"/>
                </a:solidFill>
                <a:latin typeface="Poppins"/>
              </a:rPr>
              <a:t>Producer connected to TfL API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1130300" y="3657600"/>
            <a:ext cx="2921000" cy="558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30303"/>
                </a:solidFill>
                <a:latin typeface="Poppins"/>
              </a:rPr>
              <a:t>Pulls live Tube data every few minutes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1130300" y="4356100"/>
            <a:ext cx="2921000" cy="850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30303"/>
                </a:solidFill>
                <a:latin typeface="Poppins"/>
              </a:rPr>
              <a:t>Real-time data extraction from all 6 lines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4813300" y="2959100"/>
            <a:ext cx="2921000" cy="850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30303"/>
                </a:solidFill>
                <a:latin typeface="Poppins"/>
              </a:rPr>
              <a:t>Producer pushes data straight into Kafka topic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4813300" y="3937000"/>
            <a:ext cx="2921000" cy="850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30303"/>
                </a:solidFill>
                <a:latin typeface="Poppins"/>
              </a:rPr>
              <a:t>Real-time data streaming and event buffering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4813300" y="4927600"/>
            <a:ext cx="2921000" cy="558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30303"/>
                </a:solidFill>
                <a:latin typeface="Poppins"/>
              </a:rPr>
              <a:t>Continuous data flow with minimal latency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8496300" y="2959100"/>
            <a:ext cx="2921000" cy="850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30303"/>
                </a:solidFill>
                <a:latin typeface="Poppins"/>
              </a:rPr>
              <a:t>Consumer reads live messages from Kafka topics</a:t>
            </a:r>
            <a:endParaRPr lang="en-US" sz="1100"/>
          </a:p>
        </p:txBody>
      </p:sp>
      <p:sp>
        <p:nvSpPr>
          <p:cNvPr id="28" name="TextBox 28"/>
          <p:cNvSpPr txBox="1"/>
          <p:nvPr/>
        </p:nvSpPr>
        <p:spPr>
          <a:xfrm>
            <a:off x="8496300" y="3937000"/>
            <a:ext cx="2921000" cy="850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30303"/>
                </a:solidFill>
                <a:latin typeface="Poppins"/>
              </a:rPr>
              <a:t>Transforms raw API data into clean, structured format</a:t>
            </a:r>
            <a:endParaRPr lang="en-US" sz="1100"/>
          </a:p>
        </p:txBody>
      </p:sp>
      <p:sp>
        <p:nvSpPr>
          <p:cNvPr id="29" name="TextBox 29"/>
          <p:cNvSpPr txBox="1"/>
          <p:nvPr/>
        </p:nvSpPr>
        <p:spPr>
          <a:xfrm>
            <a:off x="8496300" y="4927600"/>
            <a:ext cx="2921000" cy="558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30303"/>
                </a:solidFill>
                <a:latin typeface="Poppins"/>
              </a:rPr>
              <a:t>Handles deduplication and data validation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12179300" y="2959100"/>
            <a:ext cx="2921000" cy="558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30303"/>
                </a:solidFill>
                <a:latin typeface="Poppins"/>
              </a:rPr>
              <a:t>Spark writes cleaned data into HDFS cluster</a:t>
            </a:r>
            <a:endParaRPr lang="en-US" sz="1100"/>
          </a:p>
        </p:txBody>
      </p:sp>
      <p:sp>
        <p:nvSpPr>
          <p:cNvPr id="31" name="TextBox 31"/>
          <p:cNvSpPr txBox="1"/>
          <p:nvPr/>
        </p:nvSpPr>
        <p:spPr>
          <a:xfrm>
            <a:off x="12179300" y="3657600"/>
            <a:ext cx="2921000" cy="850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30303"/>
                </a:solidFill>
                <a:latin typeface="Poppins"/>
              </a:rPr>
              <a:t>Hive/Impala make data available for reporting tools</a:t>
            </a:r>
            <a:endParaRPr lang="en-US" sz="1100"/>
          </a:p>
        </p:txBody>
      </p:sp>
      <p:sp>
        <p:nvSpPr>
          <p:cNvPr id="32" name="TextBox 32"/>
          <p:cNvSpPr txBox="1"/>
          <p:nvPr/>
        </p:nvSpPr>
        <p:spPr>
          <a:xfrm>
            <a:off x="12179300" y="4648200"/>
            <a:ext cx="2921000" cy="850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30303"/>
                </a:solidFill>
                <a:latin typeface="Poppins"/>
              </a:rPr>
              <a:t>Structured format ready for PowerBI consumption</a:t>
            </a:r>
            <a:endParaRPr lang="en-US" sz="1100"/>
          </a:p>
        </p:txBody>
      </p:sp>
      <p:sp>
        <p:nvSpPr>
          <p:cNvPr id="33" name="TextBox 33"/>
          <p:cNvSpPr txBox="1"/>
          <p:nvPr/>
        </p:nvSpPr>
        <p:spPr>
          <a:xfrm>
            <a:off x="1130300" y="7302500"/>
            <a:ext cx="7099300" cy="279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30303"/>
                </a:solidFill>
                <a:latin typeface="Poppins"/>
              </a:rPr>
              <a:t>Jenkins ties everything together for automation</a:t>
            </a:r>
            <a:endParaRPr lang="en-US" sz="1100"/>
          </a:p>
        </p:txBody>
      </p:sp>
      <p:sp>
        <p:nvSpPr>
          <p:cNvPr id="34" name="TextBox 34"/>
          <p:cNvSpPr txBox="1"/>
          <p:nvPr/>
        </p:nvSpPr>
        <p:spPr>
          <a:xfrm>
            <a:off x="1130300" y="7721600"/>
            <a:ext cx="7099300" cy="279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30303"/>
                </a:solidFill>
                <a:latin typeface="Poppins"/>
              </a:rPr>
              <a:t>Whole pipeline runs automatically without manual work</a:t>
            </a:r>
            <a:endParaRPr lang="en-US" sz="1100"/>
          </a:p>
        </p:txBody>
      </p:sp>
      <p:sp>
        <p:nvSpPr>
          <p:cNvPr id="35" name="TextBox 35"/>
          <p:cNvSpPr txBox="1"/>
          <p:nvPr/>
        </p:nvSpPr>
        <p:spPr>
          <a:xfrm>
            <a:off x="1130300" y="8140700"/>
            <a:ext cx="7099300" cy="279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030303"/>
                </a:solidFill>
                <a:latin typeface="Poppins"/>
              </a:rPr>
              <a:t>Continuous monitoring and error handling</a:t>
            </a:r>
            <a:endParaRPr lang="en-US" sz="1100"/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3"/>
          <a:srcRect t="21000" b="21000"/>
          <a:stretch>
            <a:fillRect/>
          </a:stretch>
        </p:blipFill>
        <p:spPr>
          <a:xfrm>
            <a:off x="1346200" y="1562100"/>
            <a:ext cx="304800" cy="1778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4"/>
          <a:srcRect t="9000" b="9000"/>
          <a:stretch>
            <a:fillRect/>
          </a:stretch>
        </p:blipFill>
        <p:spPr>
          <a:xfrm>
            <a:off x="5080000" y="1562100"/>
            <a:ext cx="215900" cy="1778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5"/>
          <a:srcRect t="9000" b="9000"/>
          <a:stretch>
            <a:fillRect/>
          </a:stretch>
        </p:blipFill>
        <p:spPr>
          <a:xfrm>
            <a:off x="8763000" y="1562100"/>
            <a:ext cx="215900" cy="1778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6"/>
          <a:srcRect t="19000" b="19000"/>
          <a:stretch>
            <a:fillRect/>
          </a:stretch>
        </p:blipFill>
        <p:spPr>
          <a:xfrm>
            <a:off x="12420600" y="1562100"/>
            <a:ext cx="279400" cy="1778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7"/>
          <a:srcRect t="21000" b="21000"/>
          <a:stretch>
            <a:fillRect/>
          </a:stretch>
        </p:blipFill>
        <p:spPr>
          <a:xfrm>
            <a:off x="1346200" y="6261100"/>
            <a:ext cx="304800" cy="177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GB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27709"/>
            <a:ext cx="16256000" cy="9144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876300" y="762000"/>
            <a:ext cx="14490700" cy="685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>
              <a:lnSpc>
                <a:spcPct val="120000"/>
              </a:lnSpc>
              <a:defRPr/>
            </a:pPr>
            <a:r>
              <a:rPr lang="en-US" sz="3900" b="1" dirty="0">
                <a:solidFill>
                  <a:srgbClr val="3154D4"/>
                </a:solidFill>
                <a:latin typeface="Poppins"/>
              </a:rPr>
              <a:t>Batch &amp; Streaming Data Model: Star Schema Design</a:t>
            </a:r>
            <a:endParaRPr lang="en-US" sz="11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586B630-7D7C-B15F-2151-3CC1DE83A2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800" y="1565997"/>
            <a:ext cx="14102813" cy="6816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GB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1511300"/>
            <a:ext cx="14490700" cy="695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5" name="AutoShape 5"/>
          <p:cNvSpPr/>
          <p:nvPr/>
        </p:nvSpPr>
        <p:spPr>
          <a:xfrm>
            <a:off x="876300" y="1511300"/>
            <a:ext cx="14490700" cy="1739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AutoShape 6"/>
          <p:cNvSpPr/>
          <p:nvPr/>
        </p:nvSpPr>
        <p:spPr>
          <a:xfrm>
            <a:off x="876300" y="1511300"/>
            <a:ext cx="1257300" cy="1739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7" name="AutoShape 7"/>
          <p:cNvSpPr/>
          <p:nvPr/>
        </p:nvSpPr>
        <p:spPr>
          <a:xfrm>
            <a:off x="876300" y="3251200"/>
            <a:ext cx="14490700" cy="1739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AutoShape 8"/>
          <p:cNvSpPr/>
          <p:nvPr/>
        </p:nvSpPr>
        <p:spPr>
          <a:xfrm>
            <a:off x="876300" y="3251200"/>
            <a:ext cx="1257300" cy="1739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AutoShape 9"/>
          <p:cNvSpPr/>
          <p:nvPr/>
        </p:nvSpPr>
        <p:spPr>
          <a:xfrm>
            <a:off x="876300" y="4991100"/>
            <a:ext cx="14490700" cy="1739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AutoShape 10"/>
          <p:cNvSpPr/>
          <p:nvPr/>
        </p:nvSpPr>
        <p:spPr>
          <a:xfrm>
            <a:off x="876300" y="4991100"/>
            <a:ext cx="1257300" cy="1739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AutoShape 11"/>
          <p:cNvSpPr/>
          <p:nvPr/>
        </p:nvSpPr>
        <p:spPr>
          <a:xfrm>
            <a:off x="876300" y="6731000"/>
            <a:ext cx="14490700" cy="1739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AutoShape 12"/>
          <p:cNvSpPr/>
          <p:nvPr/>
        </p:nvSpPr>
        <p:spPr>
          <a:xfrm>
            <a:off x="876300" y="6731000"/>
            <a:ext cx="1257300" cy="1739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" y="1511300"/>
            <a:ext cx="1193800" cy="1739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" y="3251200"/>
            <a:ext cx="1193800" cy="1739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" y="4991100"/>
            <a:ext cx="1193800" cy="17399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" y="6731000"/>
            <a:ext cx="1193800" cy="17399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876300" y="660400"/>
            <a:ext cx="14490700" cy="571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800" b="1">
                <a:solidFill>
                  <a:srgbClr val="3154D4"/>
                </a:solidFill>
                <a:latin typeface="Poppins"/>
              </a:rPr>
              <a:t>Streaming Challenges: API &amp; Data Quality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2514600" y="1752600"/>
            <a:ext cx="12852400" cy="355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300" b="1">
                <a:solidFill>
                  <a:srgbClr val="3154D4"/>
                </a:solidFill>
                <a:latin typeface="Poppins"/>
              </a:rPr>
              <a:t>API &amp; Data Quality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2514600" y="3492500"/>
            <a:ext cx="12852400" cy="355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300" b="1">
                <a:solidFill>
                  <a:srgbClr val="3154D4"/>
                </a:solidFill>
                <a:latin typeface="Poppins"/>
              </a:rPr>
              <a:t>Streaming &amp; Pipeline Stability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2514600" y="5232400"/>
            <a:ext cx="12852400" cy="355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300" b="1">
                <a:solidFill>
                  <a:srgbClr val="3154D4"/>
                </a:solidFill>
                <a:latin typeface="Poppins"/>
              </a:rPr>
              <a:t>File System &amp; Metadata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2514600" y="6972300"/>
            <a:ext cx="12852400" cy="355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300" b="1">
                <a:solidFill>
                  <a:srgbClr val="3154D4"/>
                </a:solidFill>
                <a:latin typeface="Poppins"/>
              </a:rPr>
              <a:t>Power BI / DAX Issues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2514600" y="2286000"/>
            <a:ext cx="12852400" cy="723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TfL API data was often slow, incomplete, or inconsistent, requiring retries and extra cleaning to standardise the records.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2514600" y="4025900"/>
            <a:ext cx="12852400" cy="723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Ensuring reliable Kafka–Spark streaming, keeping only the latest snapshot, and preventing Jenkins jobs from overlapping during 5-minute runs.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2514600" y="5765800"/>
            <a:ext cx="12852400" cy="723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Power BI wasn't picking up new data until we fixed Hive/Impala metadata by invalidating and refreshing it.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2514600" y="7505700"/>
            <a:ext cx="12852400" cy="723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DAX KPIs failed because timestamp fields were stored as text and DirectQuery couldn't fold functions like DATEDIFF/UTCNOW until DateTime and metadata were corrected.</a:t>
            </a:r>
            <a:endParaRPr lang="en-US" sz="1100"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4"/>
          <a:srcRect t="11000" b="11000"/>
          <a:stretch>
            <a:fillRect/>
          </a:stretch>
        </p:blipFill>
        <p:spPr>
          <a:xfrm>
            <a:off x="1346200" y="2260600"/>
            <a:ext cx="304800" cy="2413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5"/>
          <a:srcRect l="6000" r="6000"/>
          <a:stretch>
            <a:fillRect/>
          </a:stretch>
        </p:blipFill>
        <p:spPr>
          <a:xfrm>
            <a:off x="1397000" y="4000500"/>
            <a:ext cx="215900" cy="2413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6"/>
          <a:srcRect t="7000" b="7000"/>
          <a:stretch>
            <a:fillRect/>
          </a:stretch>
        </p:blipFill>
        <p:spPr>
          <a:xfrm>
            <a:off x="1358900" y="5740400"/>
            <a:ext cx="279400" cy="2413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384300" y="7480300"/>
            <a:ext cx="241300" cy="2413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GB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3048000"/>
            <a:ext cx="14490700" cy="38989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B0BBD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5" name="AutoShape 5"/>
          <p:cNvSpPr/>
          <p:nvPr/>
        </p:nvSpPr>
        <p:spPr>
          <a:xfrm>
            <a:off x="889000" y="3060700"/>
            <a:ext cx="3238500" cy="546100"/>
          </a:xfrm>
          <a:prstGeom prst="rect">
            <a:avLst/>
          </a:prstGeom>
          <a:solidFill>
            <a:srgbClr val="AAB4DC">
              <a:alpha val="47843"/>
            </a:srgbClr>
          </a:solidFill>
          <a:ln w="12700">
            <a:solidFill>
              <a:srgbClr val="B0BBD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6" name="AutoShape 6"/>
          <p:cNvSpPr/>
          <p:nvPr/>
        </p:nvSpPr>
        <p:spPr>
          <a:xfrm>
            <a:off x="4127500" y="3060700"/>
            <a:ext cx="6159500" cy="546100"/>
          </a:xfrm>
          <a:prstGeom prst="rect">
            <a:avLst/>
          </a:prstGeom>
          <a:solidFill>
            <a:srgbClr val="AAB4DC">
              <a:alpha val="47843"/>
            </a:srgbClr>
          </a:solidFill>
          <a:ln w="12700">
            <a:solidFill>
              <a:srgbClr val="B0BBD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7" name="AutoShape 7"/>
          <p:cNvSpPr/>
          <p:nvPr/>
        </p:nvSpPr>
        <p:spPr>
          <a:xfrm>
            <a:off x="10299700" y="3060700"/>
            <a:ext cx="5054600" cy="546100"/>
          </a:xfrm>
          <a:prstGeom prst="rect">
            <a:avLst/>
          </a:prstGeom>
          <a:solidFill>
            <a:srgbClr val="AAB4DC">
              <a:alpha val="47843"/>
            </a:srgbClr>
          </a:solidFill>
          <a:ln w="12700">
            <a:solidFill>
              <a:srgbClr val="B0BBD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8" name="AutoShape 8"/>
          <p:cNvSpPr/>
          <p:nvPr/>
        </p:nvSpPr>
        <p:spPr>
          <a:xfrm>
            <a:off x="889000" y="3619500"/>
            <a:ext cx="3238500" cy="546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B0BBD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9" name="AutoShape 9"/>
          <p:cNvSpPr/>
          <p:nvPr/>
        </p:nvSpPr>
        <p:spPr>
          <a:xfrm>
            <a:off x="4127500" y="3619500"/>
            <a:ext cx="6159500" cy="546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B0BBD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0" name="AutoShape 10"/>
          <p:cNvSpPr/>
          <p:nvPr/>
        </p:nvSpPr>
        <p:spPr>
          <a:xfrm>
            <a:off x="10299700" y="3619500"/>
            <a:ext cx="5054600" cy="546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B0BBD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" name="AutoShape 11"/>
          <p:cNvSpPr/>
          <p:nvPr/>
        </p:nvSpPr>
        <p:spPr>
          <a:xfrm>
            <a:off x="889000" y="4178300"/>
            <a:ext cx="3238500" cy="546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B0BBD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2" name="AutoShape 12"/>
          <p:cNvSpPr/>
          <p:nvPr/>
        </p:nvSpPr>
        <p:spPr>
          <a:xfrm>
            <a:off x="4127500" y="4178300"/>
            <a:ext cx="6159500" cy="546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B0BBD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3" name="AutoShape 13"/>
          <p:cNvSpPr/>
          <p:nvPr/>
        </p:nvSpPr>
        <p:spPr>
          <a:xfrm>
            <a:off x="10299700" y="4178300"/>
            <a:ext cx="5054600" cy="546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B0BBD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4" name="AutoShape 14"/>
          <p:cNvSpPr/>
          <p:nvPr/>
        </p:nvSpPr>
        <p:spPr>
          <a:xfrm>
            <a:off x="889000" y="4737100"/>
            <a:ext cx="3238500" cy="546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B0BBD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5" name="AutoShape 15"/>
          <p:cNvSpPr/>
          <p:nvPr/>
        </p:nvSpPr>
        <p:spPr>
          <a:xfrm>
            <a:off x="4127500" y="4737100"/>
            <a:ext cx="6159500" cy="546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B0BBD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6" name="AutoShape 16"/>
          <p:cNvSpPr/>
          <p:nvPr/>
        </p:nvSpPr>
        <p:spPr>
          <a:xfrm>
            <a:off x="10299700" y="4737100"/>
            <a:ext cx="5054600" cy="546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B0BBD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7" name="AutoShape 17"/>
          <p:cNvSpPr/>
          <p:nvPr/>
        </p:nvSpPr>
        <p:spPr>
          <a:xfrm>
            <a:off x="889000" y="5283200"/>
            <a:ext cx="3238500" cy="546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B0BBD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8" name="AutoShape 18"/>
          <p:cNvSpPr/>
          <p:nvPr/>
        </p:nvSpPr>
        <p:spPr>
          <a:xfrm>
            <a:off x="4127500" y="5283200"/>
            <a:ext cx="6159500" cy="546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B0BBD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9" name="AutoShape 19"/>
          <p:cNvSpPr/>
          <p:nvPr/>
        </p:nvSpPr>
        <p:spPr>
          <a:xfrm>
            <a:off x="10299700" y="5283200"/>
            <a:ext cx="5054600" cy="546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B0BBD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0" name="AutoShape 20"/>
          <p:cNvSpPr/>
          <p:nvPr/>
        </p:nvSpPr>
        <p:spPr>
          <a:xfrm>
            <a:off x="889000" y="5842000"/>
            <a:ext cx="3238500" cy="546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B0BBD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1" name="AutoShape 21"/>
          <p:cNvSpPr/>
          <p:nvPr/>
        </p:nvSpPr>
        <p:spPr>
          <a:xfrm>
            <a:off x="4127500" y="5842000"/>
            <a:ext cx="6159500" cy="546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B0BBD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2" name="AutoShape 22"/>
          <p:cNvSpPr/>
          <p:nvPr/>
        </p:nvSpPr>
        <p:spPr>
          <a:xfrm>
            <a:off x="10299700" y="5842000"/>
            <a:ext cx="5054600" cy="546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B0BBD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3" name="AutoShape 23"/>
          <p:cNvSpPr/>
          <p:nvPr/>
        </p:nvSpPr>
        <p:spPr>
          <a:xfrm>
            <a:off x="889000" y="6400800"/>
            <a:ext cx="3238500" cy="546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B0BBD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4" name="AutoShape 24"/>
          <p:cNvSpPr/>
          <p:nvPr/>
        </p:nvSpPr>
        <p:spPr>
          <a:xfrm>
            <a:off x="4127500" y="6400800"/>
            <a:ext cx="6159500" cy="546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B0BBD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5" name="AutoShape 25"/>
          <p:cNvSpPr/>
          <p:nvPr/>
        </p:nvSpPr>
        <p:spPr>
          <a:xfrm>
            <a:off x="10299700" y="6400800"/>
            <a:ext cx="5054600" cy="546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B0BBDF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Box 26"/>
          <p:cNvSpPr txBox="1"/>
          <p:nvPr/>
        </p:nvSpPr>
        <p:spPr>
          <a:xfrm>
            <a:off x="876300" y="21717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3154D4"/>
                </a:solidFill>
                <a:latin typeface="Poppins"/>
              </a:rPr>
              <a:t>Unit Tests: Producer &amp; Consumer Matrix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977900" y="3149600"/>
            <a:ext cx="3060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Unit Tests</a:t>
            </a:r>
            <a:endParaRPr lang="en-US" sz="1100"/>
          </a:p>
        </p:txBody>
      </p:sp>
      <p:sp>
        <p:nvSpPr>
          <p:cNvPr id="28" name="TextBox 28"/>
          <p:cNvSpPr txBox="1"/>
          <p:nvPr/>
        </p:nvSpPr>
        <p:spPr>
          <a:xfrm>
            <a:off x="4216400" y="3149600"/>
            <a:ext cx="5981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Producer</a:t>
            </a:r>
            <a:endParaRPr lang="en-US" sz="1100"/>
          </a:p>
        </p:txBody>
      </p:sp>
      <p:sp>
        <p:nvSpPr>
          <p:cNvPr id="29" name="TextBox 29"/>
          <p:cNvSpPr txBox="1"/>
          <p:nvPr/>
        </p:nvSpPr>
        <p:spPr>
          <a:xfrm>
            <a:off x="10388600" y="3149600"/>
            <a:ext cx="48768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Consumer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977900" y="3708400"/>
            <a:ext cx="3060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Kafka Creation</a:t>
            </a:r>
            <a:endParaRPr lang="en-US" sz="1100"/>
          </a:p>
        </p:txBody>
      </p:sp>
      <p:sp>
        <p:nvSpPr>
          <p:cNvPr id="31" name="TextBox 31"/>
          <p:cNvSpPr txBox="1"/>
          <p:nvPr/>
        </p:nvSpPr>
        <p:spPr>
          <a:xfrm>
            <a:off x="4216400" y="3708400"/>
            <a:ext cx="5981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Producer setup with correct serializers</a:t>
            </a:r>
            <a:endParaRPr lang="en-US" sz="1100"/>
          </a:p>
        </p:txBody>
      </p:sp>
      <p:sp>
        <p:nvSpPr>
          <p:cNvPr id="32" name="TextBox 32"/>
          <p:cNvSpPr txBox="1"/>
          <p:nvPr/>
        </p:nvSpPr>
        <p:spPr>
          <a:xfrm>
            <a:off x="10388600" y="3708400"/>
            <a:ext cx="48768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Producer setup for consumer</a:t>
            </a:r>
            <a:endParaRPr lang="en-US" sz="1100"/>
          </a:p>
        </p:txBody>
      </p:sp>
      <p:sp>
        <p:nvSpPr>
          <p:cNvPr id="33" name="TextBox 33"/>
          <p:cNvSpPr txBox="1"/>
          <p:nvPr/>
        </p:nvSpPr>
        <p:spPr>
          <a:xfrm>
            <a:off x="977900" y="4267200"/>
            <a:ext cx="3060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Fetch TFL Data</a:t>
            </a:r>
            <a:endParaRPr lang="en-US" sz="1100"/>
          </a:p>
        </p:txBody>
      </p:sp>
      <p:sp>
        <p:nvSpPr>
          <p:cNvPr id="34" name="TextBox 34"/>
          <p:cNvSpPr txBox="1"/>
          <p:nvPr/>
        </p:nvSpPr>
        <p:spPr>
          <a:xfrm>
            <a:off x="4216400" y="4267200"/>
            <a:ext cx="5981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Returns parsed JSON</a:t>
            </a:r>
            <a:endParaRPr lang="en-US" sz="1100"/>
          </a:p>
        </p:txBody>
      </p:sp>
      <p:sp>
        <p:nvSpPr>
          <p:cNvPr id="35" name="TextBox 35"/>
          <p:cNvSpPr txBox="1"/>
          <p:nvPr/>
        </p:nvSpPr>
        <p:spPr>
          <a:xfrm>
            <a:off x="10388600" y="4267200"/>
            <a:ext cx="48768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Parsed JSON handled correctly</a:t>
            </a:r>
            <a:endParaRPr lang="en-US" sz="1100"/>
          </a:p>
        </p:txBody>
      </p:sp>
      <p:sp>
        <p:nvSpPr>
          <p:cNvPr id="36" name="TextBox 36"/>
          <p:cNvSpPr txBox="1"/>
          <p:nvPr/>
        </p:nvSpPr>
        <p:spPr>
          <a:xfrm>
            <a:off x="977900" y="4826000"/>
            <a:ext cx="3060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Enrich Events</a:t>
            </a:r>
            <a:endParaRPr lang="en-US" sz="1100"/>
          </a:p>
        </p:txBody>
      </p:sp>
      <p:sp>
        <p:nvSpPr>
          <p:cNvPr id="37" name="TextBox 37"/>
          <p:cNvSpPr txBox="1"/>
          <p:nvPr/>
        </p:nvSpPr>
        <p:spPr>
          <a:xfrm>
            <a:off x="4216400" y="4826000"/>
            <a:ext cx="5981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Adds line metadata &amp; string IDs</a:t>
            </a:r>
            <a:endParaRPr lang="en-US" sz="1100"/>
          </a:p>
        </p:txBody>
      </p:sp>
      <p:sp>
        <p:nvSpPr>
          <p:cNvPr id="38" name="TextBox 38"/>
          <p:cNvSpPr txBox="1"/>
          <p:nvPr/>
        </p:nvSpPr>
        <p:spPr>
          <a:xfrm>
            <a:off x="10388600" y="4826000"/>
            <a:ext cx="48768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Metadata &amp; ID formatting</a:t>
            </a:r>
            <a:endParaRPr lang="en-US" sz="1100"/>
          </a:p>
        </p:txBody>
      </p:sp>
      <p:sp>
        <p:nvSpPr>
          <p:cNvPr id="39" name="TextBox 39"/>
          <p:cNvSpPr txBox="1"/>
          <p:nvPr/>
        </p:nvSpPr>
        <p:spPr>
          <a:xfrm>
            <a:off x="977900" y="5372100"/>
            <a:ext cx="3060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Send Events</a:t>
            </a:r>
            <a:endParaRPr lang="en-US" sz="1100"/>
          </a:p>
        </p:txBody>
      </p:sp>
      <p:sp>
        <p:nvSpPr>
          <p:cNvPr id="40" name="TextBox 40"/>
          <p:cNvSpPr txBox="1"/>
          <p:nvPr/>
        </p:nvSpPr>
        <p:spPr>
          <a:xfrm>
            <a:off x="4216400" y="5372100"/>
            <a:ext cx="5981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Sends events and flushes producer</a:t>
            </a:r>
            <a:endParaRPr lang="en-US" sz="1100"/>
          </a:p>
        </p:txBody>
      </p:sp>
      <p:sp>
        <p:nvSpPr>
          <p:cNvPr id="41" name="TextBox 41"/>
          <p:cNvSpPr txBox="1"/>
          <p:nvPr/>
        </p:nvSpPr>
        <p:spPr>
          <a:xfrm>
            <a:off x="10388600" y="5372100"/>
            <a:ext cx="48768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Events sent &amp; flushed</a:t>
            </a:r>
            <a:endParaRPr lang="en-US" sz="1100"/>
          </a:p>
        </p:txBody>
      </p:sp>
      <p:sp>
        <p:nvSpPr>
          <p:cNvPr id="42" name="TextBox 42"/>
          <p:cNvSpPr txBox="1"/>
          <p:nvPr/>
        </p:nvSpPr>
        <p:spPr>
          <a:xfrm>
            <a:off x="977900" y="5930900"/>
            <a:ext cx="3060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Poll and Send Once</a:t>
            </a:r>
            <a:endParaRPr lang="en-US" sz="1100"/>
          </a:p>
        </p:txBody>
      </p:sp>
      <p:sp>
        <p:nvSpPr>
          <p:cNvPr id="43" name="TextBox 43"/>
          <p:cNvSpPr txBox="1"/>
          <p:nvPr/>
        </p:nvSpPr>
        <p:spPr>
          <a:xfrm>
            <a:off x="4216400" y="5930900"/>
            <a:ext cx="5981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End-to-end fetch → enrich → send</a:t>
            </a:r>
            <a:endParaRPr lang="en-US" sz="1100"/>
          </a:p>
        </p:txBody>
      </p:sp>
      <p:sp>
        <p:nvSpPr>
          <p:cNvPr id="44" name="TextBox 44"/>
          <p:cNvSpPr txBox="1"/>
          <p:nvPr/>
        </p:nvSpPr>
        <p:spPr>
          <a:xfrm>
            <a:off x="10388600" y="5930900"/>
            <a:ext cx="48768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Full consumer pipeline tested</a:t>
            </a:r>
            <a:endParaRPr lang="en-US" sz="1100"/>
          </a:p>
        </p:txBody>
      </p:sp>
      <p:sp>
        <p:nvSpPr>
          <p:cNvPr id="45" name="TextBox 45"/>
          <p:cNvSpPr txBox="1"/>
          <p:nvPr/>
        </p:nvSpPr>
        <p:spPr>
          <a:xfrm>
            <a:off x="977900" y="6489700"/>
            <a:ext cx="3060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Shutdown</a:t>
            </a:r>
            <a:endParaRPr lang="en-US" sz="1100"/>
          </a:p>
        </p:txBody>
      </p:sp>
      <p:sp>
        <p:nvSpPr>
          <p:cNvPr id="46" name="TextBox 46"/>
          <p:cNvSpPr txBox="1"/>
          <p:nvPr/>
        </p:nvSpPr>
        <p:spPr>
          <a:xfrm>
            <a:off x="4216400" y="6489700"/>
            <a:ext cx="5981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Flushes and closes producer</a:t>
            </a:r>
            <a:endParaRPr lang="en-US" sz="1100"/>
          </a:p>
        </p:txBody>
      </p:sp>
      <p:sp>
        <p:nvSpPr>
          <p:cNvPr id="47" name="TextBox 47"/>
          <p:cNvSpPr txBox="1"/>
          <p:nvPr/>
        </p:nvSpPr>
        <p:spPr>
          <a:xfrm>
            <a:off x="10388600" y="6489700"/>
            <a:ext cx="48768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030303"/>
                </a:solidFill>
                <a:latin typeface="Poppins"/>
              </a:rPr>
              <a:t>Graceful producer termination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82805-494E-1FE3-E176-7C77EF241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64C2170-E431-AE68-FA4A-1B9B7CF87DD0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GB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D1C49EB8-62B4-BE21-25C5-36AAF8345B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4D46AD67-1BBC-4B04-F23E-AFBF0D5E1127}"/>
              </a:ext>
            </a:extLst>
          </p:cNvPr>
          <p:cNvSpPr txBox="1"/>
          <p:nvPr/>
        </p:nvSpPr>
        <p:spPr>
          <a:xfrm>
            <a:off x="869950" y="647700"/>
            <a:ext cx="14490700" cy="1257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 dirty="0">
                <a:solidFill>
                  <a:srgbClr val="3154D4"/>
                </a:solidFill>
                <a:latin typeface="Poppins"/>
              </a:rPr>
              <a:t>Batch Processing Performance Analysis</a:t>
            </a:r>
            <a:endParaRPr lang="en-US" sz="1100" dirty="0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1FFA049-7BE8-BFC0-A0D9-3EA3EA29B522}"/>
              </a:ext>
            </a:extLst>
          </p:cNvPr>
          <p:cNvSpPr txBox="1"/>
          <p:nvPr/>
        </p:nvSpPr>
        <p:spPr>
          <a:xfrm>
            <a:off x="1181100" y="3644900"/>
            <a:ext cx="138684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endParaRPr lang="en-US" sz="1100" dirty="0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2D79AB6-E2C0-CDBF-4BC7-2F34C939E686}"/>
              </a:ext>
            </a:extLst>
          </p:cNvPr>
          <p:cNvSpPr txBox="1"/>
          <p:nvPr/>
        </p:nvSpPr>
        <p:spPr>
          <a:xfrm>
            <a:off x="1181100" y="4381500"/>
            <a:ext cx="138684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endParaRPr lang="en-US" sz="1100" dirty="0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80ECA10-4D4B-4847-6ED3-412BAA3182FD}"/>
              </a:ext>
            </a:extLst>
          </p:cNvPr>
          <p:cNvSpPr txBox="1"/>
          <p:nvPr/>
        </p:nvSpPr>
        <p:spPr>
          <a:xfrm>
            <a:off x="1181100" y="5041900"/>
            <a:ext cx="138684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endParaRPr lang="en-US" sz="1100" dirty="0"/>
          </a:p>
        </p:txBody>
      </p:sp>
      <p:pic>
        <p:nvPicPr>
          <p:cNvPr id="9" name="Picture 8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8E86F8F-2F84-9A49-1680-0DF35BBDBE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00" y="2176221"/>
            <a:ext cx="13030199" cy="612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4930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GB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876300" y="533400"/>
            <a:ext cx="14490700" cy="1295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 dirty="0">
                <a:solidFill>
                  <a:srgbClr val="3154D4"/>
                </a:solidFill>
                <a:latin typeface="Poppins"/>
              </a:rPr>
              <a:t>Streaming KPIs &amp; Performance Metrics</a:t>
            </a:r>
            <a:endParaRPr lang="en-US" sz="1100" dirty="0"/>
          </a:p>
        </p:txBody>
      </p:sp>
      <p:sp>
        <p:nvSpPr>
          <p:cNvPr id="7" name="TextBox 7"/>
          <p:cNvSpPr txBox="1"/>
          <p:nvPr/>
        </p:nvSpPr>
        <p:spPr>
          <a:xfrm>
            <a:off x="876300" y="1536700"/>
            <a:ext cx="14490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 dirty="0">
                <a:solidFill>
                  <a:srgbClr val="030303"/>
                </a:solidFill>
                <a:latin typeface="Poppins"/>
              </a:rPr>
              <a:t>Real-time health tracking with sub-second latency targets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GB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876300" y="647700"/>
            <a:ext cx="14490700" cy="1257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 dirty="0">
                <a:solidFill>
                  <a:srgbClr val="3154D4"/>
                </a:solidFill>
                <a:latin typeface="Poppins"/>
              </a:rPr>
              <a:t>Batch Processing Performance Analysis</a:t>
            </a:r>
            <a:endParaRPr lang="en-US" sz="1100" dirty="0"/>
          </a:p>
        </p:txBody>
      </p:sp>
      <p:sp>
        <p:nvSpPr>
          <p:cNvPr id="5" name="TextBox 5"/>
          <p:cNvSpPr txBox="1"/>
          <p:nvPr/>
        </p:nvSpPr>
        <p:spPr>
          <a:xfrm>
            <a:off x="1181100" y="1689100"/>
            <a:ext cx="138684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endParaRPr lang="en-US" sz="1100" dirty="0"/>
          </a:p>
        </p:txBody>
      </p:sp>
      <p:sp>
        <p:nvSpPr>
          <p:cNvPr id="6" name="TextBox 6"/>
          <p:cNvSpPr txBox="1"/>
          <p:nvPr/>
        </p:nvSpPr>
        <p:spPr>
          <a:xfrm>
            <a:off x="1041400" y="1981200"/>
            <a:ext cx="14008100" cy="228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 dirty="0">
                <a:solidFill>
                  <a:srgbClr val="030303"/>
                </a:solidFill>
                <a:latin typeface="Poppins"/>
              </a:rPr>
              <a:t>Full Load (27 Nov): 8,000 records processed</a:t>
            </a:r>
            <a:endParaRPr lang="en-US" sz="1100" dirty="0"/>
          </a:p>
        </p:txBody>
      </p:sp>
      <p:sp>
        <p:nvSpPr>
          <p:cNvPr id="7" name="TextBox 7"/>
          <p:cNvSpPr txBox="1"/>
          <p:nvPr/>
        </p:nvSpPr>
        <p:spPr>
          <a:xfrm>
            <a:off x="1041400" y="2349500"/>
            <a:ext cx="140081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 dirty="0">
                <a:solidFill>
                  <a:srgbClr val="030303"/>
                </a:solidFill>
                <a:latin typeface="Poppins"/>
              </a:rPr>
              <a:t>Daily Incremental (28 Nov - 3 Dec):500-1,000 records/day/Line</a:t>
            </a:r>
            <a:endParaRPr lang="en-US" sz="11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0A34DC1-9B4A-6E97-7AAC-9C8204E3FB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5960972"/>
              </p:ext>
            </p:extLst>
          </p:nvPr>
        </p:nvGraphicFramePr>
        <p:xfrm>
          <a:off x="1574800" y="2946400"/>
          <a:ext cx="13182600" cy="4902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94200">
                  <a:extLst>
                    <a:ext uri="{9D8B030D-6E8A-4147-A177-3AD203B41FA5}">
                      <a16:colId xmlns:a16="http://schemas.microsoft.com/office/drawing/2014/main" val="1060457845"/>
                    </a:ext>
                  </a:extLst>
                </a:gridCol>
                <a:gridCol w="4394200">
                  <a:extLst>
                    <a:ext uri="{9D8B030D-6E8A-4147-A177-3AD203B41FA5}">
                      <a16:colId xmlns:a16="http://schemas.microsoft.com/office/drawing/2014/main" val="4069227459"/>
                    </a:ext>
                  </a:extLst>
                </a:gridCol>
                <a:gridCol w="4394200">
                  <a:extLst>
                    <a:ext uri="{9D8B030D-6E8A-4147-A177-3AD203B41FA5}">
                      <a16:colId xmlns:a16="http://schemas.microsoft.com/office/drawing/2014/main" val="2351627926"/>
                    </a:ext>
                  </a:extLst>
                </a:gridCol>
              </a:tblGrid>
              <a:tr h="490220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15577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GB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1943100"/>
            <a:ext cx="14490700" cy="659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5" name="AutoShape 5"/>
          <p:cNvSpPr/>
          <p:nvPr/>
        </p:nvSpPr>
        <p:spPr>
          <a:xfrm>
            <a:off x="876300" y="1943100"/>
            <a:ext cx="4660900" cy="6591300"/>
          </a:xfrm>
          <a:prstGeom prst="rect">
            <a:avLst/>
          </a:prstGeom>
          <a:solidFill>
            <a:srgbClr val="AAB4DC">
              <a:alpha val="47843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AutoShape 6"/>
          <p:cNvSpPr/>
          <p:nvPr/>
        </p:nvSpPr>
        <p:spPr>
          <a:xfrm>
            <a:off x="1181100" y="2159000"/>
            <a:ext cx="647700" cy="647700"/>
          </a:xfrm>
          <a:prstGeom prst="roundRect">
            <a:avLst>
              <a:gd name="adj" fmla="val 49019"/>
            </a:avLst>
          </a:prstGeom>
          <a:solidFill>
            <a:srgbClr val="5171C2"/>
          </a:solidFill>
        </p:spPr>
        <p:txBody>
          <a:bodyPr/>
          <a:lstStyle/>
          <a:p>
            <a:endParaRPr lang="en-GB"/>
          </a:p>
        </p:txBody>
      </p:sp>
      <p:sp>
        <p:nvSpPr>
          <p:cNvPr id="7" name="AutoShape 7"/>
          <p:cNvSpPr/>
          <p:nvPr/>
        </p:nvSpPr>
        <p:spPr>
          <a:xfrm>
            <a:off x="5791200" y="1943100"/>
            <a:ext cx="4660900" cy="6591300"/>
          </a:xfrm>
          <a:prstGeom prst="rect">
            <a:avLst/>
          </a:prstGeom>
          <a:solidFill>
            <a:srgbClr val="AAB4DC">
              <a:alpha val="47843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AutoShape 8"/>
          <p:cNvSpPr/>
          <p:nvPr/>
        </p:nvSpPr>
        <p:spPr>
          <a:xfrm>
            <a:off x="6096000" y="2159000"/>
            <a:ext cx="647700" cy="647700"/>
          </a:xfrm>
          <a:prstGeom prst="roundRect">
            <a:avLst>
              <a:gd name="adj" fmla="val 49019"/>
            </a:avLst>
          </a:prstGeom>
          <a:solidFill>
            <a:srgbClr val="5171C2"/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AutoShape 9"/>
          <p:cNvSpPr/>
          <p:nvPr/>
        </p:nvSpPr>
        <p:spPr>
          <a:xfrm>
            <a:off x="10706100" y="1943100"/>
            <a:ext cx="4660900" cy="6591300"/>
          </a:xfrm>
          <a:prstGeom prst="rect">
            <a:avLst/>
          </a:prstGeom>
          <a:solidFill>
            <a:srgbClr val="AAB4DC">
              <a:alpha val="47843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AutoShape 10"/>
          <p:cNvSpPr/>
          <p:nvPr/>
        </p:nvSpPr>
        <p:spPr>
          <a:xfrm>
            <a:off x="11010900" y="2159000"/>
            <a:ext cx="647700" cy="647700"/>
          </a:xfrm>
          <a:prstGeom prst="roundRect">
            <a:avLst>
              <a:gd name="adj" fmla="val 49019"/>
            </a:avLst>
          </a:prstGeom>
          <a:solidFill>
            <a:srgbClr val="5171C2"/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TextBox 11"/>
          <p:cNvSpPr txBox="1"/>
          <p:nvPr/>
        </p:nvSpPr>
        <p:spPr>
          <a:xfrm>
            <a:off x="876300" y="596900"/>
            <a:ext cx="14490700" cy="520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400" b="1">
                <a:solidFill>
                  <a:srgbClr val="3154D4"/>
                </a:solidFill>
                <a:latin typeface="Poppins"/>
              </a:rPr>
              <a:t>Future Enhancements &amp; Roadmap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1130300" y="3035300"/>
            <a:ext cx="4152900" cy="393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500" b="1">
                <a:solidFill>
                  <a:srgbClr val="3154D4"/>
                </a:solidFill>
                <a:latin typeface="Poppins"/>
              </a:rPr>
              <a:t>Advanced Analytics 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6045200" y="3035300"/>
            <a:ext cx="4152900" cy="787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500" b="1">
                <a:solidFill>
                  <a:srgbClr val="3154D4"/>
                </a:solidFill>
                <a:latin typeface="Poppins"/>
              </a:rPr>
              <a:t>Automation &amp; Orchestration 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10960100" y="3035300"/>
            <a:ext cx="4152900" cy="787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500" b="1">
                <a:solidFill>
                  <a:srgbClr val="3154D4"/>
                </a:solidFill>
                <a:latin typeface="Poppins"/>
              </a:rPr>
              <a:t>Infrastructure Modernization 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1384300" y="3594100"/>
            <a:ext cx="38989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00" b="1">
                <a:solidFill>
                  <a:srgbClr val="030303"/>
                </a:solidFill>
                <a:latin typeface="Poppins"/>
              </a:rPr>
              <a:t>Machine Learning Predictions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1625600" y="4089400"/>
            <a:ext cx="3644900" cy="647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00" b="1">
                <a:solidFill>
                  <a:srgbClr val="030303"/>
                </a:solidFill>
                <a:latin typeface="Poppins"/>
              </a:rPr>
              <a:t>Delay trend analysis using ML models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625600" y="4927600"/>
            <a:ext cx="3644900" cy="647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00" b="1">
                <a:solidFill>
                  <a:srgbClr val="030303"/>
                </a:solidFill>
                <a:latin typeface="Poppins"/>
              </a:rPr>
              <a:t>Disruption pattern prediction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1625600" y="5753100"/>
            <a:ext cx="3644900" cy="647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00" b="1">
                <a:solidFill>
                  <a:srgbClr val="030303"/>
                </a:solidFill>
                <a:latin typeface="Poppins"/>
              </a:rPr>
              <a:t>Passenger demand forecasting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1625600" y="6591300"/>
            <a:ext cx="3644900" cy="647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00" b="1">
                <a:solidFill>
                  <a:srgbClr val="030303"/>
                </a:solidFill>
                <a:latin typeface="Poppins"/>
              </a:rPr>
              <a:t>Peak-hour traffic predictions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1384300" y="7416800"/>
            <a:ext cx="38989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00" b="1">
                <a:solidFill>
                  <a:srgbClr val="030303"/>
                </a:solidFill>
                <a:latin typeface="Poppins"/>
              </a:rPr>
              <a:t>Anomaly detection algorithms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6299200" y="3987800"/>
            <a:ext cx="38989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00" b="1">
                <a:solidFill>
                  <a:srgbClr val="030303"/>
                </a:solidFill>
                <a:latin typeface="Poppins"/>
              </a:rPr>
              <a:t>Apache Airflow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6540500" y="4483100"/>
            <a:ext cx="3644900" cy="647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00" b="1">
                <a:solidFill>
                  <a:srgbClr val="030303"/>
                </a:solidFill>
                <a:latin typeface="Poppins"/>
              </a:rPr>
              <a:t>Workflow orchestration and scheduling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6540500" y="5321300"/>
            <a:ext cx="3644900" cy="647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00" b="1">
                <a:solidFill>
                  <a:srgbClr val="030303"/>
                </a:solidFill>
                <a:latin typeface="Poppins"/>
              </a:rPr>
              <a:t>DAG-based pipeline management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6540500" y="6146800"/>
            <a:ext cx="3644900" cy="647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00" b="1">
                <a:solidFill>
                  <a:srgbClr val="030303"/>
                </a:solidFill>
                <a:latin typeface="Poppins"/>
              </a:rPr>
              <a:t>Automated monitoring and alerting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6299200" y="6985000"/>
            <a:ext cx="38989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00" b="1">
                <a:solidFill>
                  <a:srgbClr val="030303"/>
                </a:solidFill>
                <a:latin typeface="Poppins"/>
              </a:rPr>
              <a:t>Auto-remediation actions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6299200" y="7480300"/>
            <a:ext cx="38989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00" b="1">
                <a:solidFill>
                  <a:srgbClr val="030303"/>
                </a:solidFill>
                <a:latin typeface="Poppins"/>
              </a:rPr>
              <a:t>Dynamic resource allocation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11214100" y="3987800"/>
            <a:ext cx="38989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00" b="1">
                <a:solidFill>
                  <a:srgbClr val="030303"/>
                </a:solidFill>
                <a:latin typeface="Poppins"/>
              </a:rPr>
              <a:t>Kubernetes</a:t>
            </a:r>
            <a:endParaRPr lang="en-US" sz="1100"/>
          </a:p>
        </p:txBody>
      </p:sp>
      <p:sp>
        <p:nvSpPr>
          <p:cNvPr id="28" name="TextBox 28"/>
          <p:cNvSpPr txBox="1"/>
          <p:nvPr/>
        </p:nvSpPr>
        <p:spPr>
          <a:xfrm>
            <a:off x="11455400" y="4483100"/>
            <a:ext cx="3644900" cy="647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00" b="1">
                <a:solidFill>
                  <a:srgbClr val="030303"/>
                </a:solidFill>
                <a:latin typeface="Poppins"/>
              </a:rPr>
              <a:t>Container orchestration platform</a:t>
            </a:r>
            <a:endParaRPr lang="en-US" sz="1100"/>
          </a:p>
        </p:txBody>
      </p:sp>
      <p:sp>
        <p:nvSpPr>
          <p:cNvPr id="29" name="TextBox 29"/>
          <p:cNvSpPr txBox="1"/>
          <p:nvPr/>
        </p:nvSpPr>
        <p:spPr>
          <a:xfrm>
            <a:off x="11455400" y="5321300"/>
            <a:ext cx="3644900" cy="647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00" b="1">
                <a:solidFill>
                  <a:srgbClr val="030303"/>
                </a:solidFill>
                <a:latin typeface="Poppins"/>
              </a:rPr>
              <a:t>Automated scaling and deployment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11455400" y="6146800"/>
            <a:ext cx="36449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00" b="1">
                <a:solidFill>
                  <a:srgbClr val="030303"/>
                </a:solidFill>
                <a:latin typeface="Poppins"/>
              </a:rPr>
              <a:t>Service mesh integration</a:t>
            </a:r>
            <a:endParaRPr lang="en-US" sz="1100"/>
          </a:p>
        </p:txBody>
      </p:sp>
      <p:sp>
        <p:nvSpPr>
          <p:cNvPr id="31" name="TextBox 31"/>
          <p:cNvSpPr txBox="1"/>
          <p:nvPr/>
        </p:nvSpPr>
        <p:spPr>
          <a:xfrm>
            <a:off x="11455400" y="6654800"/>
            <a:ext cx="36449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00" b="1">
                <a:solidFill>
                  <a:srgbClr val="030303"/>
                </a:solidFill>
                <a:latin typeface="Poppins"/>
              </a:rPr>
              <a:t>High availability setup</a:t>
            </a:r>
            <a:endParaRPr lang="en-US" sz="1100"/>
          </a:p>
        </p:txBody>
      </p:sp>
      <p:sp>
        <p:nvSpPr>
          <p:cNvPr id="32" name="TextBox 32"/>
          <p:cNvSpPr txBox="1"/>
          <p:nvPr/>
        </p:nvSpPr>
        <p:spPr>
          <a:xfrm>
            <a:off x="11214100" y="7150100"/>
            <a:ext cx="3898900" cy="647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00" b="1">
                <a:solidFill>
                  <a:srgbClr val="030303"/>
                </a:solidFill>
                <a:latin typeface="Poppins"/>
              </a:rPr>
              <a:t>Mobile app for real-time updates</a:t>
            </a:r>
            <a:endParaRPr lang="en-US" sz="1100"/>
          </a:p>
        </p:txBody>
      </p:sp>
      <p:sp>
        <p:nvSpPr>
          <p:cNvPr id="33" name="TextBox 33"/>
          <p:cNvSpPr txBox="1"/>
          <p:nvPr/>
        </p:nvSpPr>
        <p:spPr>
          <a:xfrm>
            <a:off x="11214100" y="7988300"/>
            <a:ext cx="38989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00" b="1">
                <a:solidFill>
                  <a:srgbClr val="030303"/>
                </a:solidFill>
                <a:latin typeface="Poppins"/>
              </a:rPr>
              <a:t>Custom alerting rules per user</a:t>
            </a:r>
            <a:endParaRPr lang="en-US" sz="1100"/>
          </a:p>
        </p:txBody>
      </p:sp>
      <p:sp>
        <p:nvSpPr>
          <p:cNvPr id="34" name="TextBox 34"/>
          <p:cNvSpPr txBox="1"/>
          <p:nvPr/>
        </p:nvSpPr>
        <p:spPr>
          <a:xfrm>
            <a:off x="1003300" y="3657600"/>
            <a:ext cx="241300" cy="215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7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5" name="TextBox 35"/>
          <p:cNvSpPr txBox="1"/>
          <p:nvPr/>
        </p:nvSpPr>
        <p:spPr>
          <a:xfrm>
            <a:off x="1257300" y="4140200"/>
            <a:ext cx="241300" cy="215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7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6" name="TextBox 36"/>
          <p:cNvSpPr txBox="1"/>
          <p:nvPr/>
        </p:nvSpPr>
        <p:spPr>
          <a:xfrm>
            <a:off x="1257300" y="4978400"/>
            <a:ext cx="241300" cy="215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7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7" name="TextBox 37"/>
          <p:cNvSpPr txBox="1"/>
          <p:nvPr/>
        </p:nvSpPr>
        <p:spPr>
          <a:xfrm>
            <a:off x="1257300" y="5803900"/>
            <a:ext cx="241300" cy="215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7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8" name="TextBox 38"/>
          <p:cNvSpPr txBox="1"/>
          <p:nvPr/>
        </p:nvSpPr>
        <p:spPr>
          <a:xfrm>
            <a:off x="1257300" y="6642100"/>
            <a:ext cx="241300" cy="215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7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39" name="TextBox 39"/>
          <p:cNvSpPr txBox="1"/>
          <p:nvPr/>
        </p:nvSpPr>
        <p:spPr>
          <a:xfrm>
            <a:off x="1003300" y="7467600"/>
            <a:ext cx="241300" cy="215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7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0" name="TextBox 40"/>
          <p:cNvSpPr txBox="1"/>
          <p:nvPr/>
        </p:nvSpPr>
        <p:spPr>
          <a:xfrm>
            <a:off x="5918200" y="4051300"/>
            <a:ext cx="241300" cy="215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7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1" name="TextBox 41"/>
          <p:cNvSpPr txBox="1"/>
          <p:nvPr/>
        </p:nvSpPr>
        <p:spPr>
          <a:xfrm>
            <a:off x="6172200" y="4546600"/>
            <a:ext cx="241300" cy="215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7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2" name="TextBox 42"/>
          <p:cNvSpPr txBox="1"/>
          <p:nvPr/>
        </p:nvSpPr>
        <p:spPr>
          <a:xfrm>
            <a:off x="6172200" y="5372100"/>
            <a:ext cx="241300" cy="215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7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3" name="TextBox 43"/>
          <p:cNvSpPr txBox="1"/>
          <p:nvPr/>
        </p:nvSpPr>
        <p:spPr>
          <a:xfrm>
            <a:off x="6172200" y="6197600"/>
            <a:ext cx="241300" cy="215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7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4" name="TextBox 44"/>
          <p:cNvSpPr txBox="1"/>
          <p:nvPr/>
        </p:nvSpPr>
        <p:spPr>
          <a:xfrm>
            <a:off x="5918200" y="7035800"/>
            <a:ext cx="241300" cy="215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7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5" name="TextBox 45"/>
          <p:cNvSpPr txBox="1"/>
          <p:nvPr/>
        </p:nvSpPr>
        <p:spPr>
          <a:xfrm>
            <a:off x="5918200" y="7543800"/>
            <a:ext cx="241300" cy="215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7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6" name="TextBox 46"/>
          <p:cNvSpPr txBox="1"/>
          <p:nvPr/>
        </p:nvSpPr>
        <p:spPr>
          <a:xfrm>
            <a:off x="10833100" y="4051300"/>
            <a:ext cx="241300" cy="215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7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7" name="TextBox 47"/>
          <p:cNvSpPr txBox="1"/>
          <p:nvPr/>
        </p:nvSpPr>
        <p:spPr>
          <a:xfrm>
            <a:off x="11087100" y="4546600"/>
            <a:ext cx="241300" cy="215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7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8" name="TextBox 48"/>
          <p:cNvSpPr txBox="1"/>
          <p:nvPr/>
        </p:nvSpPr>
        <p:spPr>
          <a:xfrm>
            <a:off x="11087100" y="5372100"/>
            <a:ext cx="241300" cy="215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7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49" name="TextBox 49"/>
          <p:cNvSpPr txBox="1"/>
          <p:nvPr/>
        </p:nvSpPr>
        <p:spPr>
          <a:xfrm>
            <a:off x="11087100" y="6197600"/>
            <a:ext cx="241300" cy="215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7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50" name="TextBox 50"/>
          <p:cNvSpPr txBox="1"/>
          <p:nvPr/>
        </p:nvSpPr>
        <p:spPr>
          <a:xfrm>
            <a:off x="11087100" y="6705600"/>
            <a:ext cx="241300" cy="215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7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51" name="TextBox 51"/>
          <p:cNvSpPr txBox="1"/>
          <p:nvPr/>
        </p:nvSpPr>
        <p:spPr>
          <a:xfrm>
            <a:off x="10833100" y="7213600"/>
            <a:ext cx="241300" cy="215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7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52" name="TextBox 52"/>
          <p:cNvSpPr txBox="1"/>
          <p:nvPr/>
        </p:nvSpPr>
        <p:spPr>
          <a:xfrm>
            <a:off x="10833100" y="8039100"/>
            <a:ext cx="241300" cy="215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700" b="0">
                <a:solidFill>
                  <a:srgbClr val="030303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pic>
        <p:nvPicPr>
          <p:cNvPr id="53" name="Picture 53"/>
          <p:cNvPicPr>
            <a:picLocks noChangeAspect="1"/>
          </p:cNvPicPr>
          <p:nvPr/>
        </p:nvPicPr>
        <p:blipFill>
          <a:blip r:embed="rId3"/>
          <a:srcRect t="6000" b="6000"/>
          <a:stretch>
            <a:fillRect/>
          </a:stretch>
        </p:blipFill>
        <p:spPr>
          <a:xfrm>
            <a:off x="1384300" y="2387600"/>
            <a:ext cx="241300" cy="215900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4"/>
          <a:srcRect t="15000" b="15000"/>
          <a:stretch>
            <a:fillRect/>
          </a:stretch>
        </p:blipFill>
        <p:spPr>
          <a:xfrm>
            <a:off x="6261100" y="2387600"/>
            <a:ext cx="304800" cy="215900"/>
          </a:xfrm>
          <a:prstGeom prst="rect">
            <a:avLst/>
          </a:prstGeom>
        </p:spPr>
      </p:pic>
      <p:pic>
        <p:nvPicPr>
          <p:cNvPr id="55" name="Picture 55"/>
          <p:cNvPicPr>
            <a:picLocks noChangeAspect="1"/>
          </p:cNvPicPr>
          <p:nvPr/>
        </p:nvPicPr>
        <p:blipFill>
          <a:blip r:embed="rId5"/>
          <a:srcRect t="6000" b="6000"/>
          <a:stretch>
            <a:fillRect/>
          </a:stretch>
        </p:blipFill>
        <p:spPr>
          <a:xfrm>
            <a:off x="11214100" y="2387600"/>
            <a:ext cx="241300" cy="2159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GB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876300" y="3860800"/>
            <a:ext cx="14490700" cy="1168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>
              <a:lnSpc>
                <a:spcPct val="160000"/>
              </a:lnSpc>
              <a:defRPr/>
            </a:pPr>
            <a:r>
              <a:rPr lang="en-US" sz="5400" b="1" dirty="0">
                <a:solidFill>
                  <a:srgbClr val="0070C0"/>
                </a:solidFill>
                <a:latin typeface="Poppins"/>
              </a:rPr>
              <a:t>                                           </a:t>
            </a:r>
            <a:r>
              <a:rPr lang="en-US" sz="5400" b="1" dirty="0">
                <a:solidFill>
                  <a:srgbClr val="3154D4"/>
                </a:solidFill>
                <a:latin typeface="Poppins"/>
              </a:rPr>
              <a:t>Q&amp;A</a:t>
            </a:r>
            <a:endParaRPr lang="en-US" sz="5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GB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8000" b="8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D8DAEF">
              <a:alpha val="81961"/>
            </a:srgb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876300" y="3670300"/>
            <a:ext cx="144907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60000"/>
              </a:lnSpc>
              <a:defRPr/>
            </a:pPr>
            <a:r>
              <a:rPr lang="en-US" sz="4900" b="1">
                <a:solidFill>
                  <a:srgbClr val="000000"/>
                </a:solidFill>
                <a:latin typeface="Poppins"/>
              </a:rPr>
              <a:t>Thank You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1324</TotalTime>
  <Words>1812</Words>
  <Application>Microsoft Office PowerPoint</Application>
  <PresentationFormat>Custom</PresentationFormat>
  <Paragraphs>395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Arial</vt:lpstr>
      <vt:lpstr>Calibri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Kavya Kolli</dc:creator>
  <cp:lastModifiedBy>Kavya Kolli</cp:lastModifiedBy>
  <cp:revision>8</cp:revision>
  <dcterms:created xsi:type="dcterms:W3CDTF">2006-08-16T00:00:00Z</dcterms:created>
  <dcterms:modified xsi:type="dcterms:W3CDTF">2025-12-07T20:06:26Z</dcterms:modified>
</cp:coreProperties>
</file>